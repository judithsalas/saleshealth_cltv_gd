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4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Filas</c:v>
                </c:pt>
              </c:strCache>
            </c:strRef>
          </c:tx>
          <c:spPr>
            <a:solidFill>
              <a:srgbClr val="EFE9DF"/>
            </a:solidFill>
            <a:effectLst/>
          </c:spPr>
          <c:invertIfNegative val="0"/>
          <c:cat>
            <c:strRef>
              <c:f>Sheet1!$A$2:$A$4</c:f>
              <c:strCache>
                <c:ptCount val="3"/>
                <c:pt idx="0">
                  <c:v>stg</c:v>
                </c:pt>
                <c:pt idx="1">
                  <c:v>dwh</c:v>
                </c:pt>
                <c:pt idx="2">
                  <c:v>marts</c:v>
                </c:pt>
              </c:strCache>
            </c:strRef>
          </c:cat>
          <c:val>
            <c:numRef>
              <c:f>Sheet1!$B$2:$B$4</c:f>
              <c:numCache>
                <c:formatCode>General</c:formatCode>
                <c:ptCount val="3"/>
                <c:pt idx="0">
                  <c:v>70844</c:v>
                </c:pt>
                <c:pt idx="1">
                  <c:v>70844</c:v>
                </c:pt>
                <c:pt idx="2">
                  <c:v>11500</c:v>
                </c:pt>
              </c:numCache>
            </c:numRef>
          </c:val>
          <c:extLst>
            <c:ext xmlns:c16="http://schemas.microsoft.com/office/drawing/2014/chart" uri="{C3380CC4-5D6E-409C-BE32-E72D297353CC}">
              <c16:uniqueId val="{00000000-207F-4B0B-B2A8-1905E7F127F1}"/>
            </c:ext>
          </c:extLst>
        </c:ser>
        <c:dLbls>
          <c:showLegendKey val="0"/>
          <c:showVal val="0"/>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EFE9DF"/>
                </a:solidFill>
                <a:latin typeface="Inter"/>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5C4A2F"/>
        </a:solidFill>
        <a:ln>
          <a:noFill/>
        </a:ln>
        <a:effectLst/>
      </c:spPr>
    </c:plotArea>
    <c:plotVisOnly val="1"/>
    <c:dispBlanksAs val="span"/>
    <c:showDLblsOverMax val="1"/>
  </c:chart>
  <c:spPr>
    <a:solidFill>
      <a:srgbClr val="5C4A2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 CLTV acumulado</c:v>
                </c:pt>
              </c:strCache>
            </c:strRef>
          </c:tx>
          <c:spPr>
            <a:ln w="44450" cap="flat">
              <a:solidFill>
                <a:srgbClr val="6F8F5E"/>
              </a:solidFill>
              <a:prstDash val="solid"/>
              <a:round/>
            </a:ln>
            <a:effectLst/>
          </c:spPr>
          <c:marker>
            <c:symbol val="circle"/>
            <c:size val="7"/>
            <c:spPr>
              <a:solidFill>
                <a:srgbClr val="6F8F5E"/>
              </a:solidFill>
              <a:ln w="9525" cap="flat">
                <a:solidFill>
                  <a:srgbClr val="6F8F5E"/>
                </a:solidFill>
                <a:prstDash val="solid"/>
                <a:round/>
              </a:ln>
              <a:effectLst/>
            </c:spPr>
          </c:marker>
          <c:cat>
            <c:strRef>
              <c:f>Sheet1!$A$2:$A$10</c:f>
              <c:strCache>
                <c:ptCount val="9"/>
                <c:pt idx="0">
                  <c:v>0%</c:v>
                </c:pt>
                <c:pt idx="1">
                  <c:v>5%</c:v>
                </c:pt>
                <c:pt idx="2">
                  <c:v>10%</c:v>
                </c:pt>
                <c:pt idx="3">
                  <c:v>12,9%</c:v>
                </c:pt>
                <c:pt idx="4">
                  <c:v>20%</c:v>
                </c:pt>
                <c:pt idx="5">
                  <c:v>40%</c:v>
                </c:pt>
                <c:pt idx="6">
                  <c:v>60%</c:v>
                </c:pt>
                <c:pt idx="7">
                  <c:v>80%</c:v>
                </c:pt>
                <c:pt idx="8">
                  <c:v>100%</c:v>
                </c:pt>
              </c:strCache>
            </c:strRef>
          </c:cat>
          <c:val>
            <c:numRef>
              <c:f>Sheet1!$B$2:$B$10</c:f>
              <c:numCache>
                <c:formatCode>General</c:formatCode>
                <c:ptCount val="9"/>
                <c:pt idx="0">
                  <c:v>0</c:v>
                </c:pt>
                <c:pt idx="1">
                  <c:v>86</c:v>
                </c:pt>
                <c:pt idx="2">
                  <c:v>97.5</c:v>
                </c:pt>
                <c:pt idx="3">
                  <c:v>99.6</c:v>
                </c:pt>
                <c:pt idx="4">
                  <c:v>99.7</c:v>
                </c:pt>
                <c:pt idx="5">
                  <c:v>99.85</c:v>
                </c:pt>
                <c:pt idx="6">
                  <c:v>99.92</c:v>
                </c:pt>
                <c:pt idx="7">
                  <c:v>99.97</c:v>
                </c:pt>
                <c:pt idx="8">
                  <c:v>100</c:v>
                </c:pt>
              </c:numCache>
            </c:numRef>
          </c:val>
          <c:smooth val="1"/>
          <c:extLst>
            <c:ext xmlns:c16="http://schemas.microsoft.com/office/drawing/2014/chart" uri="{C3380CC4-5D6E-409C-BE32-E72D297353CC}">
              <c16:uniqueId val="{00000000-C333-4AC3-9CC3-2C4886376FB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5A45"/>
                </a:solidFill>
                <a:latin typeface="Inter"/>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DD6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5A45"/>
                </a:solidFill>
                <a:latin typeface="Inter"/>
              </a:defRPr>
            </a:pPr>
            <a:endParaRPr lang="en-US"/>
          </a:p>
        </c:txPr>
        <c:crossAx val="2094734554"/>
        <c:crosses val="autoZero"/>
        <c:crossBetween val="between"/>
      </c:valAx>
      <c:spPr>
        <a:solidFill>
          <a:srgbClr val="F8F5EF"/>
        </a:solidFill>
        <a:ln>
          <a:noFill/>
        </a:ln>
        <a:effectLst/>
      </c:spPr>
    </c:plotArea>
    <c:plotVisOnly val="1"/>
    <c:dispBlanksAs val="span"/>
    <c:showDLblsOverMax val="1"/>
  </c:chart>
  <c:spPr>
    <a:solidFill>
      <a:srgbClr val="F8F5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Silhouette ↑</c:v>
                </c:pt>
              </c:strCache>
            </c:strRef>
          </c:tx>
          <c:spPr>
            <a:ln w="38100" cap="flat">
              <a:solidFill>
                <a:srgbClr val="6F8F5E"/>
              </a:solidFill>
              <a:prstDash val="solid"/>
              <a:round/>
            </a:ln>
            <a:effectLst/>
          </c:spPr>
          <c:marker>
            <c:symbol val="circle"/>
            <c:size val="9"/>
            <c:spPr>
              <a:solidFill>
                <a:srgbClr val="6F8F5E"/>
              </a:solidFill>
              <a:ln w="9525" cap="flat">
                <a:solidFill>
                  <a:srgbClr val="6F8F5E"/>
                </a:solidFill>
                <a:prstDash val="solid"/>
                <a:round/>
              </a:ln>
              <a:effectLst/>
            </c:spPr>
          </c:marker>
          <c:cat>
            <c:strRef>
              <c:f>Sheet1!$A$2:$A$10</c:f>
              <c:strCache>
                <c:ptCount val="9"/>
                <c:pt idx="0">
                  <c:v>2</c:v>
                </c:pt>
                <c:pt idx="1">
                  <c:v>3</c:v>
                </c:pt>
                <c:pt idx="2">
                  <c:v>4</c:v>
                </c:pt>
                <c:pt idx="3">
                  <c:v>5</c:v>
                </c:pt>
                <c:pt idx="4">
                  <c:v>6</c:v>
                </c:pt>
                <c:pt idx="5">
                  <c:v>7</c:v>
                </c:pt>
                <c:pt idx="6">
                  <c:v>8</c:v>
                </c:pt>
                <c:pt idx="7">
                  <c:v>9</c:v>
                </c:pt>
                <c:pt idx="8">
                  <c:v>10</c:v>
                </c:pt>
              </c:strCache>
            </c:strRef>
          </c:cat>
          <c:val>
            <c:numRef>
              <c:f>Sheet1!$B$2:$B$10</c:f>
              <c:numCache>
                <c:formatCode>General</c:formatCode>
                <c:ptCount val="9"/>
                <c:pt idx="0">
                  <c:v>0.83799999999999997</c:v>
                </c:pt>
                <c:pt idx="1">
                  <c:v>0.68799999999999994</c:v>
                </c:pt>
                <c:pt idx="2">
                  <c:v>0.66100000000000003</c:v>
                </c:pt>
                <c:pt idx="3">
                  <c:v>0.65400000000000003</c:v>
                </c:pt>
                <c:pt idx="4">
                  <c:v>0.60099999999999998</c:v>
                </c:pt>
                <c:pt idx="5">
                  <c:v>0.59799999999999998</c:v>
                </c:pt>
                <c:pt idx="6">
                  <c:v>0.60299999999999998</c:v>
                </c:pt>
                <c:pt idx="7">
                  <c:v>0.59399999999999997</c:v>
                </c:pt>
                <c:pt idx="8">
                  <c:v>0.60699999999999998</c:v>
                </c:pt>
              </c:numCache>
            </c:numRef>
          </c:val>
          <c:smooth val="0"/>
          <c:extLst>
            <c:ext xmlns:c16="http://schemas.microsoft.com/office/drawing/2014/chart" uri="{C3380CC4-5D6E-409C-BE32-E72D297353CC}">
              <c16:uniqueId val="{00000000-7E03-4B14-B063-84651711579B}"/>
            </c:ext>
          </c:extLst>
        </c:ser>
        <c:ser>
          <c:idx val="1"/>
          <c:order val="1"/>
          <c:tx>
            <c:strRef>
              <c:f>Sheet1!$C$1</c:f>
              <c:strCache>
                <c:ptCount val="1"/>
                <c:pt idx="0">
                  <c:v>Davies-Bouldin ↓</c:v>
                </c:pt>
              </c:strCache>
            </c:strRef>
          </c:tx>
          <c:spPr>
            <a:ln w="38100" cap="flat">
              <a:solidFill>
                <a:srgbClr val="B56B6B"/>
              </a:solidFill>
              <a:prstDash val="solid"/>
              <a:round/>
            </a:ln>
            <a:effectLst/>
          </c:spPr>
          <c:marker>
            <c:symbol val="circle"/>
            <c:size val="9"/>
            <c:spPr>
              <a:solidFill>
                <a:srgbClr val="B56B6B"/>
              </a:solidFill>
              <a:ln w="9525" cap="flat">
                <a:solidFill>
                  <a:srgbClr val="B56B6B"/>
                </a:solidFill>
                <a:prstDash val="solid"/>
                <a:round/>
              </a:ln>
              <a:effectLst/>
            </c:spPr>
          </c:marker>
          <c:cat>
            <c:strRef>
              <c:f>Sheet1!$A$2:$A$10</c:f>
              <c:strCache>
                <c:ptCount val="9"/>
                <c:pt idx="0">
                  <c:v>2</c:v>
                </c:pt>
                <c:pt idx="1">
                  <c:v>3</c:v>
                </c:pt>
                <c:pt idx="2">
                  <c:v>4</c:v>
                </c:pt>
                <c:pt idx="3">
                  <c:v>5</c:v>
                </c:pt>
                <c:pt idx="4">
                  <c:v>6</c:v>
                </c:pt>
                <c:pt idx="5">
                  <c:v>7</c:v>
                </c:pt>
                <c:pt idx="6">
                  <c:v>8</c:v>
                </c:pt>
                <c:pt idx="7">
                  <c:v>9</c:v>
                </c:pt>
                <c:pt idx="8">
                  <c:v>10</c:v>
                </c:pt>
              </c:strCache>
            </c:strRef>
          </c:cat>
          <c:val>
            <c:numRef>
              <c:f>Sheet1!$C$2:$C$10</c:f>
              <c:numCache>
                <c:formatCode>General</c:formatCode>
                <c:ptCount val="9"/>
                <c:pt idx="0">
                  <c:v>0.3</c:v>
                </c:pt>
                <c:pt idx="1">
                  <c:v>0.49199999999999999</c:v>
                </c:pt>
                <c:pt idx="2">
                  <c:v>0.60399999999999998</c:v>
                </c:pt>
                <c:pt idx="3">
                  <c:v>0.52300000000000002</c:v>
                </c:pt>
                <c:pt idx="4">
                  <c:v>0.53300000000000003</c:v>
                </c:pt>
                <c:pt idx="5">
                  <c:v>0.53600000000000003</c:v>
                </c:pt>
                <c:pt idx="6">
                  <c:v>0.54700000000000004</c:v>
                </c:pt>
                <c:pt idx="7">
                  <c:v>0.57899999999999996</c:v>
                </c:pt>
                <c:pt idx="8">
                  <c:v>0.54900000000000004</c:v>
                </c:pt>
              </c:numCache>
            </c:numRef>
          </c:val>
          <c:smooth val="0"/>
          <c:extLst>
            <c:ext xmlns:c16="http://schemas.microsoft.com/office/drawing/2014/chart" uri="{C3380CC4-5D6E-409C-BE32-E72D297353CC}">
              <c16:uniqueId val="{00000001-7E03-4B14-B063-84651711579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6B5A45"/>
                    </a:solidFill>
                    <a:latin typeface="Inter"/>
                  </a:defRPr>
                </a:pPr>
                <a:r>
                  <a:rPr lang="es-ES" sz="1000" b="0" i="0" u="none" strike="noStrike">
                    <a:solidFill>
                      <a:srgbClr val="6B5A45"/>
                    </a:solidFill>
                    <a:latin typeface="Inter"/>
                  </a:rPr>
                  <a:t>K (número de clusters)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5A45"/>
                </a:solidFill>
                <a:latin typeface="Inter"/>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6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5A45"/>
                </a:solidFill>
                <a:latin typeface="Inter"/>
              </a:defRPr>
            </a:pPr>
            <a:endParaRPr lang="en-US"/>
          </a:p>
        </c:txPr>
        <c:crossAx val="2094734554"/>
        <c:crosses val="autoZero"/>
        <c:crossBetween val="between"/>
      </c:valAx>
      <c:spPr>
        <a:solidFill>
          <a:srgbClr val="EFE9DF"/>
        </a:solidFill>
        <a:ln>
          <a:noFill/>
        </a:ln>
        <a:effectLst/>
      </c:spPr>
    </c:plotArea>
    <c:legend>
      <c:legendPos val="b"/>
      <c:overlay val="0"/>
      <c:txPr>
        <a:bodyPr/>
        <a:lstStyle/>
        <a:p>
          <a:pPr>
            <a:defRPr sz="1000">
              <a:solidFill>
                <a:srgbClr val="2B2218"/>
              </a:solidFill>
              <a:latin typeface="Inter"/>
              <a:cs typeface="Inter"/>
            </a:defRPr>
          </a:pPr>
          <a:endParaRPr lang="en-US"/>
        </a:p>
      </c:txPr>
    </c:legend>
    <c:plotVisOnly val="1"/>
    <c:dispBlanksAs val="span"/>
    <c:showDLblsOverMax val="1"/>
  </c:chart>
  <c:spPr>
    <a:solidFill>
      <a:srgbClr val="EFE9D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stacked"/>
        <c:varyColors val="0"/>
        <c:ser>
          <c:idx val="0"/>
          <c:order val="0"/>
          <c:tx>
            <c:strRef>
              <c:f>Sheet1!$B$1</c:f>
              <c:strCache>
                <c:ptCount val="1"/>
                <c:pt idx="0">
                  <c:v>Champions</c:v>
                </c:pt>
              </c:strCache>
            </c:strRef>
          </c:tx>
          <c:spPr>
            <a:solidFill>
              <a:srgbClr val="6F8F5E"/>
            </a:solidFill>
            <a:effectLst/>
          </c:spPr>
          <c:invertIfNegative val="0"/>
          <c:dLbls>
            <c:numFmt formatCode="0.0&quot;%&quot;" sourceLinked="0"/>
            <c:spPr>
              <a:noFill/>
              <a:ln>
                <a:noFill/>
              </a:ln>
              <a:effectLst/>
            </c:spPr>
            <c:txPr>
              <a:bodyPr/>
              <a:lstStyle/>
              <a:p>
                <a:pPr>
                  <a:defRPr sz="1000" b="0" i="0" u="none" strike="noStrike">
                    <a:solidFill>
                      <a:srgbClr val="FFFFFF"/>
                    </a:solidFill>
                    <a:latin typeface="Inter"/>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 Clientes</c:v>
                </c:pt>
                <c:pt idx="1">
                  <c:v>% CLTV</c:v>
                </c:pt>
              </c:strCache>
            </c:strRef>
          </c:cat>
          <c:val>
            <c:numRef>
              <c:f>Sheet1!$B$2:$B$3</c:f>
              <c:numCache>
                <c:formatCode>General</c:formatCode>
                <c:ptCount val="2"/>
                <c:pt idx="0">
                  <c:v>12.9</c:v>
                </c:pt>
                <c:pt idx="1">
                  <c:v>99.6</c:v>
                </c:pt>
              </c:numCache>
            </c:numRef>
          </c:val>
          <c:extLst>
            <c:ext xmlns:c16="http://schemas.microsoft.com/office/drawing/2014/chart" uri="{C3380CC4-5D6E-409C-BE32-E72D297353CC}">
              <c16:uniqueId val="{00000000-5124-4FAF-8B24-510CE4D8DD67}"/>
            </c:ext>
          </c:extLst>
        </c:ser>
        <c:ser>
          <c:idx val="1"/>
          <c:order val="1"/>
          <c:tx>
            <c:strRef>
              <c:f>Sheet1!$C$1</c:f>
              <c:strCache>
                <c:ptCount val="1"/>
                <c:pt idx="0">
                  <c:v>En riesgo</c:v>
                </c:pt>
              </c:strCache>
            </c:strRef>
          </c:tx>
          <c:spPr>
            <a:solidFill>
              <a:srgbClr val="B56B6B"/>
            </a:solidFill>
            <a:effectLst/>
          </c:spPr>
          <c:invertIfNegative val="0"/>
          <c:dLbls>
            <c:numFmt formatCode="0.0&quot;%&quot;" sourceLinked="0"/>
            <c:spPr>
              <a:noFill/>
              <a:ln>
                <a:noFill/>
              </a:ln>
              <a:effectLst/>
            </c:spPr>
            <c:txPr>
              <a:bodyPr/>
              <a:lstStyle/>
              <a:p>
                <a:pPr>
                  <a:defRPr sz="1000" b="0" i="0" u="none" strike="noStrike">
                    <a:solidFill>
                      <a:srgbClr val="FFFFFF"/>
                    </a:solidFill>
                    <a:latin typeface="Inter"/>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 Clientes</c:v>
                </c:pt>
                <c:pt idx="1">
                  <c:v>% CLTV</c:v>
                </c:pt>
              </c:strCache>
            </c:strRef>
          </c:cat>
          <c:val>
            <c:numRef>
              <c:f>Sheet1!$C$2:$C$3</c:f>
              <c:numCache>
                <c:formatCode>General</c:formatCode>
                <c:ptCount val="2"/>
                <c:pt idx="0">
                  <c:v>87.1</c:v>
                </c:pt>
                <c:pt idx="1">
                  <c:v>0.4</c:v>
                </c:pt>
              </c:numCache>
            </c:numRef>
          </c:val>
          <c:extLst>
            <c:ext xmlns:c16="http://schemas.microsoft.com/office/drawing/2014/chart" uri="{C3380CC4-5D6E-409C-BE32-E72D297353CC}">
              <c16:uniqueId val="{00000001-5124-4FAF-8B24-510CE4D8DD67}"/>
            </c:ext>
          </c:extLst>
        </c:ser>
        <c:dLbls>
          <c:showLegendKey val="0"/>
          <c:showVal val="1"/>
          <c:showCatName val="0"/>
          <c:showSerName val="0"/>
          <c:showPercent val="0"/>
          <c:showBubbleSize val="0"/>
        </c:dLbls>
        <c:gapWidth val="6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2218"/>
                </a:solidFill>
                <a:latin typeface="Inter"/>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EFE9DF"/>
        </a:solidFill>
        <a:ln>
          <a:noFill/>
        </a:ln>
        <a:effectLst/>
      </c:spPr>
    </c:plotArea>
    <c:legend>
      <c:legendPos val="b"/>
      <c:overlay val="0"/>
      <c:txPr>
        <a:bodyPr/>
        <a:lstStyle/>
        <a:p>
          <a:pPr>
            <a:defRPr sz="900">
              <a:solidFill>
                <a:srgbClr val="2B2218"/>
              </a:solidFill>
              <a:latin typeface="Inter"/>
              <a:cs typeface="Inter"/>
            </a:defRPr>
          </a:pPr>
          <a:endParaRPr lang="en-US"/>
        </a:p>
      </c:txPr>
    </c:legend>
    <c:plotVisOnly val="1"/>
    <c:dispBlanksAs val="span"/>
    <c:showDLblsOverMax val="1"/>
  </c:chart>
  <c:spPr>
    <a:solidFill>
      <a:srgbClr val="EFE9D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8751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1:30 min
Apertura: presento el proyecto y el contexto de negocio.
El sector salud y bienestar está proyectado en 12,48 billones de dólares para 2026 según Business Research Insights. En ese contexto, la diferencia entre captar un cliente y retenerlo es exactamente lo que cuantifica el CLTV.
Pregunta que el proyecto responde: '¿quiénes son los clientes que merece la pena retener y cuánto valen?'.
No menciono arquitectura todavía — solo el porqué.
RECORDATORIO · si me preguntan en abierto al inicio ('¿lo has hecho todo tú?', '¿qué dificultades encontraste?'), responder con concreción técnica: imputación de costes, convergencia BG/NBD que requirió reintentos progresivos, la decisión de eliminar el análisis de cohortes. No con humildad genérica.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2:00 min
Cuento la arquitectura como un flujo: origen → DWH → dashboard.
1. ORIGEN: 13 tablas distribuidas en cuatro áreas funcionales (ERP, CRM, logística, postventa). Extracción con COPY FROM STDIN streaming, sin pasar por memoria de Python.
2. DATA WAREHOUSE: esquema en estrella de Kimball con 4 dimensiones + 2 hechos. Tres capas (stg → dwh → marts) que permiten reprocesos parciales y desacoplan el dashboard del coste de cálculo.
3. DASHBOARD: cinco páginas en Streamlit con gráficos Plotly cacheados.
Cierro con las cifras de impacto: 70.844 filas procesadas (de 5.750 clientes y 20.000 pedidos en 42.555 líneas), pipeline end-to-end en 75 segundos, 20 checks de calidad que blindan el modelo antes de exponer métricas.
MENSAJE CLAVE · 'no es un volcado de datos, es un activo analítico'.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2:30 min · SLIDE MÁS IMPORTANTE
Frase de apertura clave (desarma objeciones):
'El enunciado pide la fórmula sencilla, y la implemento como pide el PDF; además añado un modelo probabilístico estándar de industria'.
IZQUIERDA: la fórmula del enunciado. AOV × frecuencia × vida útil. Es determinista, anualiza el comportamiento histórico. Responde a ¿cuál es el valor del cliente?
DERECHA: BG/NBD + Gamma-Gamma. Modelo probabilístico de Fader &amp; Hardie (2005), implementado con la librería lifetimes. Estima compras esperadas y probabilidad de seguir activo a 12 meses, con tasa de descuento del 1 % mensual.
Los dos conviven en el mart customer_lifetime_value como columnas independientes.
HALLAZGO: el 99,6 % del CLTV proyectado se concentra en el 12,9 % de los clientes. Es un Pareto extremo, pero coherente con distribuciones que se observan habitualmente en retail y servicios — no es un artefacto del modelo, es la firma del propio negocio. Recomienda priorizar agresivamente retención de Champions sobre reactivación masiva.
MENCIONAR DE FORMA EXPLÍCITA EL SUPUESTO académico que aparece en la propia diapositiva: el modelo Gamma-Gamma asume independencia entre frecuencia y valor monetario por cliente; lo valido calculando correlación de Pearson sobre los recompradores y obtengo un valor próximo a cero.
LIMITACIÓN reconocida: horizonte fijo de 12 meses; podría hacerse análisis de sensibilidad a 6 y 24 meses, queda como línea futura.
Esta cifra es el titular del proyecto. La menciono lenta y claramente.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2:30 min (1:00 explicación + 1:30 demo)
Mensaje principal (NO entrar en pesos del score):
'Pruebo K de 2 a 10. Calculo tres métricas independientes: silueta (cohesión y separación), Davies-Bouldin (solapamiento) e inercia (compactación). Las tres coinciden en señalar K=2 como la mejor solución, por lo que la decisión no depende de una única medida.'
Anclas a destacar: silueta 0,838 (excepcional, &gt; 0,7 raro en datos reales), Davies-Bouldin 0,300. Aumentar K degrada ambas a la vez.
Resultado: 742 Champions (verde) y 5.008 En riesgo de churn (rojo).
FRASE DE TRANSICIÓN A LA DEMO (incluso si todo funciona):
'Voy a abrir el dashboard en vivo; si por cualquier motivo no se ejecutara correctamente, llevo capturas de respaldo preparadas en las diapositivas finales.' → esto transmite profesionalidad y desactiva el riesgo técnico.
DEMO en directo (1:30):
1. Home → KPIs ejecutivos (20 s)
2. Segmentation → scatter UMAP coloreado por cluster (30 s)
3. Customer Detail → ficha de un Champion concreto (20 s)
4. Stores Map → cierre visual con las 20 tiendas de Madrid (20 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1:30 min
Tres bullets, no más:
01. Cumplo los seis entregables del enunciado y añado tres extensiones rigurosas: CLTV probabilístico BG/NBD + Gamma-Gamma, triple validación de K, análisis geográfico.
02. El hallazgo accionable es el Pareto 12,9 / 99,6. Recomienda priorizar agresivamente retención de Champions sobre reactivación masiva. Métrica de éxito: ROI por euro invertido, no número de clientes activos.
03. Las tres líneas de mejora futura: market basket analysis (cross-sell), lambda architecture para CLTV incremental, pseudonimización en dim_customer para RGPD por diseño.
Frase de cierre (NUEVA, más impactante):
'Este proyecto no solo responde al enunciado; demuestra cómo convertir datos transaccionales en decisiones de negocio con impacto económico real.' → pausa breve, gracias, paso a preguntas.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4A2F"/>
        </a:solidFill>
        <a:effectLst/>
      </p:bgPr>
    </p:bg>
    <p:spTree>
      <p:nvGrpSpPr>
        <p:cNvPr id="1" name=""/>
        <p:cNvGrpSpPr/>
        <p:nvPr/>
      </p:nvGrpSpPr>
      <p:grpSpPr>
        <a:xfrm>
          <a:off x="0" y="0"/>
          <a:ext cx="0" cy="0"/>
          <a:chOff x="0" y="0"/>
          <a:chExt cx="0" cy="0"/>
        </a:xfrm>
      </p:grpSpPr>
      <p:sp>
        <p:nvSpPr>
          <p:cNvPr id="2" name="Shape 0"/>
          <p:cNvSpPr/>
          <p:nvPr/>
        </p:nvSpPr>
        <p:spPr>
          <a:xfrm>
            <a:off x="235527" y="457198"/>
            <a:ext cx="7079673" cy="5943600"/>
          </a:xfrm>
          <a:prstGeom prst="rect">
            <a:avLst/>
          </a:prstGeom>
          <a:solidFill>
            <a:srgbClr val="5C4A2F"/>
          </a:solidFill>
          <a:ln w="7620">
            <a:solidFill>
              <a:srgbClr val="EFE9DF"/>
            </a:solidFill>
            <a:prstDash val="solid"/>
          </a:ln>
        </p:spPr>
        <p:txBody>
          <a:bodyPr/>
          <a:lstStyle/>
          <a:p>
            <a:endParaRPr lang="es-ES"/>
          </a:p>
        </p:txBody>
      </p:sp>
      <p:sp>
        <p:nvSpPr>
          <p:cNvPr id="3" name="Text 1"/>
          <p:cNvSpPr/>
          <p:nvPr/>
        </p:nvSpPr>
        <p:spPr>
          <a:xfrm>
            <a:off x="801716" y="777240"/>
            <a:ext cx="10058400" cy="365760"/>
          </a:xfrm>
          <a:prstGeom prst="rect">
            <a:avLst/>
          </a:prstGeom>
          <a:noFill/>
          <a:ln/>
        </p:spPr>
        <p:txBody>
          <a:bodyPr wrap="square" lIns="0" tIns="0" rIns="0" bIns="0" rtlCol="0" anchor="ctr"/>
          <a:lstStyle/>
          <a:p>
            <a:pPr marL="0" indent="0">
              <a:buNone/>
            </a:pPr>
            <a:r>
              <a:rPr lang="en-US" sz="1100" kern="0" spc="800" dirty="0">
                <a:solidFill>
                  <a:srgbClr val="EFE9DF"/>
                </a:solidFill>
                <a:latin typeface="Inter" pitchFamily="34" charset="0"/>
                <a:ea typeface="Inter" pitchFamily="34" charset="-122"/>
                <a:cs typeface="Inter" pitchFamily="34" charset="-120"/>
              </a:rPr>
              <a:t>PROYECTO FINAL · GESTIÓN DE DATOS</a:t>
            </a:r>
            <a:endParaRPr lang="en-US" sz="1100" dirty="0"/>
          </a:p>
        </p:txBody>
      </p:sp>
      <p:sp>
        <p:nvSpPr>
          <p:cNvPr id="4" name="Text 2"/>
          <p:cNvSpPr/>
          <p:nvPr/>
        </p:nvSpPr>
        <p:spPr>
          <a:xfrm>
            <a:off x="801716" y="1463040"/>
            <a:ext cx="10058400" cy="1463040"/>
          </a:xfrm>
          <a:prstGeom prst="rect">
            <a:avLst/>
          </a:prstGeom>
          <a:noFill/>
          <a:ln/>
        </p:spPr>
        <p:txBody>
          <a:bodyPr wrap="square" lIns="0" tIns="0" rIns="0" bIns="0" rtlCol="0" anchor="ctr"/>
          <a:lstStyle/>
          <a:p>
            <a:pPr marL="0" indent="0">
              <a:buNone/>
            </a:pPr>
            <a:r>
              <a:rPr lang="en-US" sz="9600" i="1" dirty="0">
                <a:solidFill>
                  <a:srgbClr val="FFFFFF"/>
                </a:solidFill>
                <a:latin typeface="Cormorant Garamond" pitchFamily="34" charset="0"/>
                <a:ea typeface="Cormorant Garamond" pitchFamily="34" charset="-122"/>
                <a:cs typeface="Cormorant Garamond" pitchFamily="34" charset="-120"/>
              </a:rPr>
              <a:t>Saleshealth</a:t>
            </a:r>
            <a:endParaRPr lang="en-US" sz="9600" dirty="0"/>
          </a:p>
        </p:txBody>
      </p:sp>
      <p:sp>
        <p:nvSpPr>
          <p:cNvPr id="5" name="Text 3"/>
          <p:cNvSpPr/>
          <p:nvPr/>
        </p:nvSpPr>
        <p:spPr>
          <a:xfrm>
            <a:off x="801716" y="3154679"/>
            <a:ext cx="10058400" cy="411480"/>
          </a:xfrm>
          <a:prstGeom prst="rect">
            <a:avLst/>
          </a:prstGeom>
          <a:noFill/>
          <a:ln/>
        </p:spPr>
        <p:txBody>
          <a:bodyPr wrap="square" lIns="0" tIns="0" rIns="0" bIns="0" rtlCol="0" anchor="ctr"/>
          <a:lstStyle/>
          <a:p>
            <a:pPr marL="0" indent="0">
              <a:buNone/>
            </a:pPr>
            <a:r>
              <a:rPr lang="en-US" sz="2200" i="1" dirty="0">
                <a:solidFill>
                  <a:srgbClr val="EFE9DF"/>
                </a:solidFill>
                <a:latin typeface="Cormorant Garamond" pitchFamily="34" charset="0"/>
                <a:ea typeface="Cormorant Garamond" pitchFamily="34" charset="-122"/>
                <a:cs typeface="Cormorant Garamond" pitchFamily="34" charset="-120"/>
              </a:rPr>
              <a:t>Construcción de un entorno analítico y cálculo del</a:t>
            </a:r>
            <a:endParaRPr lang="en-US" sz="2200" dirty="0"/>
          </a:p>
        </p:txBody>
      </p:sp>
      <p:sp>
        <p:nvSpPr>
          <p:cNvPr id="6" name="Text 4"/>
          <p:cNvSpPr/>
          <p:nvPr/>
        </p:nvSpPr>
        <p:spPr>
          <a:xfrm>
            <a:off x="1798781" y="3642590"/>
            <a:ext cx="10058400" cy="502920"/>
          </a:xfrm>
          <a:prstGeom prst="rect">
            <a:avLst/>
          </a:prstGeom>
          <a:noFill/>
          <a:ln/>
        </p:spPr>
        <p:txBody>
          <a:bodyPr wrap="square" lIns="0" tIns="0" rIns="0" bIns="0" rtlCol="0" anchor="ctr"/>
          <a:lstStyle/>
          <a:p>
            <a:pPr marL="0" indent="0">
              <a:buNone/>
            </a:pPr>
            <a:r>
              <a:rPr lang="en-US" sz="2800" dirty="0">
                <a:solidFill>
                  <a:srgbClr val="FFFFFF"/>
                </a:solidFill>
                <a:latin typeface="Cormorant Garamond" pitchFamily="34" charset="0"/>
                <a:ea typeface="Cormorant Garamond" pitchFamily="34" charset="-122"/>
                <a:cs typeface="Cormorant Garamond" pitchFamily="34" charset="-120"/>
              </a:rPr>
              <a:t>Customer Lifetime Value</a:t>
            </a:r>
            <a:endParaRPr lang="en-US" sz="2800" dirty="0"/>
          </a:p>
        </p:txBody>
      </p:sp>
      <p:sp>
        <p:nvSpPr>
          <p:cNvPr id="7" name="Shape 5"/>
          <p:cNvSpPr/>
          <p:nvPr/>
        </p:nvSpPr>
        <p:spPr>
          <a:xfrm>
            <a:off x="1097280" y="4846320"/>
            <a:ext cx="1097280" cy="0"/>
          </a:xfrm>
          <a:prstGeom prst="line">
            <a:avLst/>
          </a:prstGeom>
          <a:noFill/>
          <a:ln w="15240">
            <a:solidFill>
              <a:srgbClr val="EFE9DF"/>
            </a:solidFill>
            <a:prstDash val="solid"/>
          </a:ln>
        </p:spPr>
        <p:txBody>
          <a:bodyPr/>
          <a:lstStyle/>
          <a:p>
            <a:endParaRPr lang="es-ES"/>
          </a:p>
        </p:txBody>
      </p:sp>
      <p:sp>
        <p:nvSpPr>
          <p:cNvPr id="8" name="Text 6"/>
          <p:cNvSpPr/>
          <p:nvPr/>
        </p:nvSpPr>
        <p:spPr>
          <a:xfrm>
            <a:off x="800333" y="5069840"/>
            <a:ext cx="2743200" cy="274320"/>
          </a:xfrm>
          <a:prstGeom prst="rect">
            <a:avLst/>
          </a:prstGeom>
          <a:noFill/>
          <a:ln/>
        </p:spPr>
        <p:txBody>
          <a:bodyPr wrap="square" lIns="0" tIns="0" rIns="0" bIns="0" rtlCol="0" anchor="ctr"/>
          <a:lstStyle/>
          <a:p>
            <a:pPr marL="0" indent="0">
              <a:buNone/>
            </a:pPr>
            <a:r>
              <a:rPr lang="en-US" sz="900" kern="0" spc="600" dirty="0">
                <a:solidFill>
                  <a:srgbClr val="EFE9DF"/>
                </a:solidFill>
                <a:latin typeface="Inter" pitchFamily="34" charset="0"/>
                <a:ea typeface="Inter" pitchFamily="34" charset="-122"/>
                <a:cs typeface="Inter" pitchFamily="34" charset="-120"/>
              </a:rPr>
              <a:t>AUTORA</a:t>
            </a:r>
            <a:endParaRPr lang="en-US" sz="900" dirty="0"/>
          </a:p>
        </p:txBody>
      </p:sp>
      <p:sp>
        <p:nvSpPr>
          <p:cNvPr id="9" name="Text 7"/>
          <p:cNvSpPr/>
          <p:nvPr/>
        </p:nvSpPr>
        <p:spPr>
          <a:xfrm>
            <a:off x="800333" y="5378335"/>
            <a:ext cx="3291840" cy="365760"/>
          </a:xfrm>
          <a:prstGeom prst="rect">
            <a:avLst/>
          </a:prstGeom>
          <a:noFill/>
          <a:ln/>
        </p:spPr>
        <p:txBody>
          <a:bodyPr wrap="square" lIns="0" tIns="0" rIns="0" bIns="0" rtlCol="0" anchor="ctr"/>
          <a:lstStyle/>
          <a:p>
            <a:pPr marL="0" indent="0">
              <a:buNone/>
            </a:pPr>
            <a:r>
              <a:rPr lang="en-US" sz="1800" i="1" dirty="0">
                <a:solidFill>
                  <a:srgbClr val="FFFFFF"/>
                </a:solidFill>
                <a:latin typeface="Cormorant Garamond" pitchFamily="34" charset="0"/>
                <a:ea typeface="Cormorant Garamond" pitchFamily="34" charset="-122"/>
                <a:cs typeface="Cormorant Garamond" pitchFamily="34" charset="-120"/>
              </a:rPr>
              <a:t>Judith M.ª Salas García</a:t>
            </a:r>
            <a:endParaRPr lang="en-US" sz="1800" dirty="0"/>
          </a:p>
        </p:txBody>
      </p:sp>
      <p:sp>
        <p:nvSpPr>
          <p:cNvPr id="10" name="Text 8"/>
          <p:cNvSpPr/>
          <p:nvPr/>
        </p:nvSpPr>
        <p:spPr>
          <a:xfrm>
            <a:off x="4145281" y="4960389"/>
            <a:ext cx="2743200" cy="274320"/>
          </a:xfrm>
          <a:prstGeom prst="rect">
            <a:avLst/>
          </a:prstGeom>
          <a:noFill/>
          <a:ln/>
        </p:spPr>
        <p:txBody>
          <a:bodyPr wrap="square" lIns="0" tIns="0" rIns="0" bIns="0" rtlCol="0" anchor="ctr"/>
          <a:lstStyle/>
          <a:p>
            <a:pPr marL="0" indent="0">
              <a:buNone/>
            </a:pPr>
            <a:r>
              <a:rPr lang="en-US" sz="900" kern="0" spc="600" dirty="0">
                <a:solidFill>
                  <a:srgbClr val="EFE9DF"/>
                </a:solidFill>
                <a:latin typeface="Inter" pitchFamily="34" charset="0"/>
                <a:ea typeface="Inter" pitchFamily="34" charset="-122"/>
                <a:cs typeface="Inter" pitchFamily="34" charset="-120"/>
              </a:rPr>
              <a:t>STACK</a:t>
            </a:r>
            <a:endParaRPr lang="en-US" sz="900" dirty="0"/>
          </a:p>
        </p:txBody>
      </p:sp>
      <p:sp>
        <p:nvSpPr>
          <p:cNvPr id="11" name="Text 9"/>
          <p:cNvSpPr/>
          <p:nvPr/>
        </p:nvSpPr>
        <p:spPr>
          <a:xfrm>
            <a:off x="3999344" y="5349240"/>
            <a:ext cx="4572000" cy="365760"/>
          </a:xfrm>
          <a:prstGeom prst="rect">
            <a:avLst/>
          </a:prstGeom>
          <a:noFill/>
          <a:ln/>
        </p:spPr>
        <p:txBody>
          <a:bodyPr wrap="square" lIns="0" tIns="0" rIns="0" bIns="0" rtlCol="0" anchor="ctr"/>
          <a:lstStyle/>
          <a:p>
            <a:pPr marL="0" indent="0">
              <a:buNone/>
            </a:pPr>
            <a:r>
              <a:rPr lang="en-US" sz="1800" i="1" dirty="0">
                <a:solidFill>
                  <a:srgbClr val="FFFFFF"/>
                </a:solidFill>
                <a:latin typeface="Cormorant Garamond" pitchFamily="34" charset="0"/>
                <a:ea typeface="Cormorant Garamond" pitchFamily="34" charset="-122"/>
                <a:cs typeface="Cormorant Garamond" pitchFamily="34" charset="-120"/>
              </a:rPr>
              <a:t>PostgreSQL · Python · Streamlit</a:t>
            </a:r>
            <a:endParaRPr lang="en-US" sz="1800" dirty="0"/>
          </a:p>
        </p:txBody>
      </p:sp>
      <p:sp>
        <p:nvSpPr>
          <p:cNvPr id="12" name="Text 10"/>
          <p:cNvSpPr/>
          <p:nvPr/>
        </p:nvSpPr>
        <p:spPr>
          <a:xfrm>
            <a:off x="9144000" y="5074920"/>
            <a:ext cx="2743200" cy="274320"/>
          </a:xfrm>
          <a:prstGeom prst="rect">
            <a:avLst/>
          </a:prstGeom>
          <a:noFill/>
          <a:ln/>
        </p:spPr>
        <p:txBody>
          <a:bodyPr wrap="square" lIns="0" tIns="0" rIns="0" bIns="0" rtlCol="0" anchor="ctr"/>
          <a:lstStyle/>
          <a:p>
            <a:pPr marL="0" indent="0">
              <a:buNone/>
            </a:pPr>
            <a:endParaRPr lang="en-US" sz="900" dirty="0"/>
          </a:p>
        </p:txBody>
      </p:sp>
      <p:sp>
        <p:nvSpPr>
          <p:cNvPr id="13" name="Text 11"/>
          <p:cNvSpPr/>
          <p:nvPr/>
        </p:nvSpPr>
        <p:spPr>
          <a:xfrm>
            <a:off x="9144000" y="5349240"/>
            <a:ext cx="2743200" cy="365760"/>
          </a:xfrm>
          <a:prstGeom prst="rect">
            <a:avLst/>
          </a:prstGeom>
          <a:noFill/>
          <a:ln/>
        </p:spPr>
        <p:txBody>
          <a:bodyPr wrap="square" lIns="0" tIns="0" rIns="0" bIns="0" rtlCol="0" anchor="ctr"/>
          <a:lstStyle/>
          <a:p>
            <a:pPr marL="0" indent="0">
              <a:buNone/>
            </a:pPr>
            <a:endParaRPr lang="en-US" sz="1800" dirty="0"/>
          </a:p>
        </p:txBody>
      </p:sp>
      <p:pic>
        <p:nvPicPr>
          <p:cNvPr id="14" name="Imagen 13">
            <a:extLst>
              <a:ext uri="{FF2B5EF4-FFF2-40B4-BE49-F238E27FC236}">
                <a16:creationId xmlns:a16="http://schemas.microsoft.com/office/drawing/2014/main" id="{352E54AF-C6DB-4DA0-0B92-7FC4D1F86891}"/>
              </a:ext>
            </a:extLst>
          </p:cNvPr>
          <p:cNvPicPr>
            <a:picLocks noChangeAspect="1"/>
          </p:cNvPicPr>
          <p:nvPr/>
        </p:nvPicPr>
        <p:blipFill>
          <a:blip r:embed="rId3"/>
          <a:stretch>
            <a:fillRect/>
          </a:stretch>
        </p:blipFill>
        <p:spPr>
          <a:xfrm>
            <a:off x="7620001" y="-1"/>
            <a:ext cx="4571999"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F"/>
        </a:solidFill>
        <a:effectLst/>
      </p:bgPr>
    </p:bg>
    <p:spTree>
      <p:nvGrpSpPr>
        <p:cNvPr id="1" name=""/>
        <p:cNvGrpSpPr/>
        <p:nvPr/>
      </p:nvGrpSpPr>
      <p:grpSpPr>
        <a:xfrm>
          <a:off x="0" y="0"/>
          <a:ext cx="0" cy="0"/>
          <a:chOff x="0" y="0"/>
          <a:chExt cx="0" cy="0"/>
        </a:xfrm>
      </p:grpSpPr>
      <p:sp>
        <p:nvSpPr>
          <p:cNvPr id="2" name="Text 0"/>
          <p:cNvSpPr/>
          <p:nvPr/>
        </p:nvSpPr>
        <p:spPr>
          <a:xfrm>
            <a:off x="3553968" y="585216"/>
            <a:ext cx="4907188" cy="548640"/>
          </a:xfrm>
          <a:prstGeom prst="rect">
            <a:avLst/>
          </a:prstGeom>
          <a:noFill/>
          <a:ln/>
        </p:spPr>
        <p:txBody>
          <a:bodyPr wrap="square" lIns="0" tIns="0" rIns="0" bIns="0" rtlCol="0" anchor="ctr"/>
          <a:lstStyle/>
          <a:p>
            <a:pPr marL="0" indent="0">
              <a:buNone/>
            </a:pPr>
            <a:r>
              <a:rPr lang="en-US" sz="3000" i="1" dirty="0">
                <a:solidFill>
                  <a:srgbClr val="5C4A2F"/>
                </a:solidFill>
                <a:latin typeface="Cormorant Garamond" pitchFamily="34" charset="0"/>
                <a:ea typeface="Cormorant Garamond" pitchFamily="34" charset="-122"/>
                <a:cs typeface="Cormorant Garamond" pitchFamily="34" charset="-120"/>
              </a:rPr>
              <a:t>De 13 tablas operacionales</a:t>
            </a:r>
            <a:endParaRPr lang="en-US" sz="3000" dirty="0"/>
          </a:p>
        </p:txBody>
      </p:sp>
      <p:sp>
        <p:nvSpPr>
          <p:cNvPr id="3" name="Text 1"/>
          <p:cNvSpPr/>
          <p:nvPr/>
        </p:nvSpPr>
        <p:spPr>
          <a:xfrm>
            <a:off x="3221458" y="1202436"/>
            <a:ext cx="5996433" cy="548640"/>
          </a:xfrm>
          <a:prstGeom prst="rect">
            <a:avLst/>
          </a:prstGeom>
          <a:noFill/>
          <a:ln/>
        </p:spPr>
        <p:txBody>
          <a:bodyPr wrap="square" lIns="0" tIns="0" rIns="0" bIns="0" rtlCol="0" anchor="ctr"/>
          <a:lstStyle/>
          <a:p>
            <a:pPr marL="0" indent="0">
              <a:buNone/>
            </a:pPr>
            <a:r>
              <a:rPr lang="en-US" sz="3000" i="1" dirty="0">
                <a:solidFill>
                  <a:srgbClr val="5C4A2F"/>
                </a:solidFill>
                <a:latin typeface="Cormorant Garamond" pitchFamily="34" charset="0"/>
                <a:ea typeface="Cormorant Garamond" pitchFamily="34" charset="-122"/>
                <a:cs typeface="Cormorant Garamond" pitchFamily="34" charset="-120"/>
              </a:rPr>
              <a:t>al Data Warehouse y al dashboard</a:t>
            </a:r>
            <a:endParaRPr lang="en-US" sz="3000" dirty="0"/>
          </a:p>
        </p:txBody>
      </p:sp>
      <p:sp>
        <p:nvSpPr>
          <p:cNvPr id="4" name="Text 2"/>
          <p:cNvSpPr/>
          <p:nvPr/>
        </p:nvSpPr>
        <p:spPr>
          <a:xfrm>
            <a:off x="594360" y="219456"/>
            <a:ext cx="10972800" cy="274320"/>
          </a:xfrm>
          <a:prstGeom prst="rect">
            <a:avLst/>
          </a:prstGeom>
          <a:noFill/>
          <a:ln/>
        </p:spPr>
        <p:txBody>
          <a:bodyPr wrap="square" lIns="0" tIns="0" rIns="0" bIns="0" rtlCol="0" anchor="ctr"/>
          <a:lstStyle/>
          <a:p>
            <a:pPr marL="0" indent="0">
              <a:buNone/>
            </a:pPr>
            <a:r>
              <a:rPr lang="en-US" sz="950" kern="0" spc="600" dirty="0">
                <a:solidFill>
                  <a:srgbClr val="6B5A45"/>
                </a:solidFill>
                <a:latin typeface="Inter" pitchFamily="34" charset="0"/>
                <a:ea typeface="Inter" pitchFamily="34" charset="-122"/>
                <a:cs typeface="Inter" pitchFamily="34" charset="-120"/>
              </a:rPr>
              <a:t>CAPÍTULO 1 · ARQUITECTURA</a:t>
            </a:r>
            <a:endParaRPr lang="en-US" sz="950" dirty="0"/>
          </a:p>
        </p:txBody>
      </p:sp>
      <p:sp>
        <p:nvSpPr>
          <p:cNvPr id="5" name="Shape 3"/>
          <p:cNvSpPr/>
          <p:nvPr/>
        </p:nvSpPr>
        <p:spPr>
          <a:xfrm>
            <a:off x="594360" y="2011680"/>
            <a:ext cx="3383280" cy="2377440"/>
          </a:xfrm>
          <a:prstGeom prst="rect">
            <a:avLst/>
          </a:prstGeom>
          <a:solidFill>
            <a:srgbClr val="EFE9DF"/>
          </a:solidFill>
          <a:ln/>
        </p:spPr>
        <p:txBody>
          <a:bodyPr/>
          <a:lstStyle/>
          <a:p>
            <a:endParaRPr lang="es-ES"/>
          </a:p>
        </p:txBody>
      </p:sp>
      <p:sp>
        <p:nvSpPr>
          <p:cNvPr id="6" name="Shape 4"/>
          <p:cNvSpPr/>
          <p:nvPr/>
        </p:nvSpPr>
        <p:spPr>
          <a:xfrm>
            <a:off x="594360" y="2011680"/>
            <a:ext cx="64008" cy="2377440"/>
          </a:xfrm>
          <a:prstGeom prst="rect">
            <a:avLst/>
          </a:prstGeom>
          <a:solidFill>
            <a:srgbClr val="5C4A2F"/>
          </a:solidFill>
          <a:ln/>
        </p:spPr>
        <p:txBody>
          <a:bodyPr/>
          <a:lstStyle/>
          <a:p>
            <a:endParaRPr lang="es-ES"/>
          </a:p>
        </p:txBody>
      </p:sp>
      <p:sp>
        <p:nvSpPr>
          <p:cNvPr id="7" name="Text 5"/>
          <p:cNvSpPr/>
          <p:nvPr/>
        </p:nvSpPr>
        <p:spPr>
          <a:xfrm>
            <a:off x="914400" y="2240280"/>
            <a:ext cx="2926080" cy="274320"/>
          </a:xfrm>
          <a:prstGeom prst="rect">
            <a:avLst/>
          </a:prstGeom>
          <a:noFill/>
          <a:ln/>
        </p:spPr>
        <p:txBody>
          <a:bodyPr wrap="square" lIns="0" tIns="0" rIns="0" bIns="0" rtlCol="0" anchor="ctr"/>
          <a:lstStyle/>
          <a:p>
            <a:pPr marL="0" indent="0">
              <a:buNone/>
            </a:pPr>
            <a:r>
              <a:rPr lang="en-US" sz="900" kern="0" spc="500" dirty="0">
                <a:solidFill>
                  <a:srgbClr val="8A7253"/>
                </a:solidFill>
                <a:latin typeface="Inter" pitchFamily="34" charset="0"/>
                <a:ea typeface="Inter" pitchFamily="34" charset="-122"/>
                <a:cs typeface="Inter" pitchFamily="34" charset="-120"/>
              </a:rPr>
              <a:t>ORIGEN</a:t>
            </a:r>
            <a:endParaRPr lang="en-US" sz="900" dirty="0"/>
          </a:p>
        </p:txBody>
      </p:sp>
      <p:sp>
        <p:nvSpPr>
          <p:cNvPr id="8" name="Text 6"/>
          <p:cNvSpPr/>
          <p:nvPr/>
        </p:nvSpPr>
        <p:spPr>
          <a:xfrm>
            <a:off x="914400" y="2514600"/>
            <a:ext cx="2926080" cy="914400"/>
          </a:xfrm>
          <a:prstGeom prst="rect">
            <a:avLst/>
          </a:prstGeom>
          <a:noFill/>
          <a:ln/>
        </p:spPr>
        <p:txBody>
          <a:bodyPr wrap="square" lIns="0" tIns="0" rIns="0" bIns="0" rtlCol="0" anchor="ctr"/>
          <a:lstStyle/>
          <a:p>
            <a:pPr marL="0" indent="0">
              <a:buNone/>
            </a:pPr>
            <a:r>
              <a:rPr lang="en-US" sz="4400" i="1" dirty="0">
                <a:solidFill>
                  <a:srgbClr val="5C4A2F"/>
                </a:solidFill>
                <a:latin typeface="Cormorant Garamond" pitchFamily="34" charset="0"/>
                <a:ea typeface="Cormorant Garamond" pitchFamily="34" charset="-122"/>
                <a:cs typeface="Cormorant Garamond" pitchFamily="34" charset="-120"/>
              </a:rPr>
              <a:t>13 tablas</a:t>
            </a:r>
            <a:endParaRPr lang="en-US" sz="4400" dirty="0"/>
          </a:p>
        </p:txBody>
      </p:sp>
      <p:sp>
        <p:nvSpPr>
          <p:cNvPr id="9" name="Text 7"/>
          <p:cNvSpPr/>
          <p:nvPr/>
        </p:nvSpPr>
        <p:spPr>
          <a:xfrm>
            <a:off x="914400" y="3383280"/>
            <a:ext cx="2926080" cy="365760"/>
          </a:xfrm>
          <a:prstGeom prst="rect">
            <a:avLst/>
          </a:prstGeom>
          <a:noFill/>
          <a:ln/>
        </p:spPr>
        <p:txBody>
          <a:bodyPr wrap="square" lIns="0" tIns="0" rIns="0" bIns="0" rtlCol="0" anchor="ctr"/>
          <a:lstStyle/>
          <a:p>
            <a:pPr marL="0" indent="0">
              <a:buNone/>
            </a:pPr>
            <a:r>
              <a:rPr lang="en-US" sz="1600" i="1" dirty="0">
                <a:solidFill>
                  <a:srgbClr val="6B5A45"/>
                </a:solidFill>
                <a:latin typeface="Cormorant Garamond" pitchFamily="34" charset="0"/>
                <a:ea typeface="Cormorant Garamond" pitchFamily="34" charset="-122"/>
                <a:cs typeface="Cormorant Garamond" pitchFamily="34" charset="-120"/>
              </a:rPr>
              <a:t>ERP · CRM · logística · postventa</a:t>
            </a:r>
            <a:endParaRPr lang="en-US" sz="1600" dirty="0"/>
          </a:p>
        </p:txBody>
      </p:sp>
      <p:sp>
        <p:nvSpPr>
          <p:cNvPr id="10" name="Text 8"/>
          <p:cNvSpPr/>
          <p:nvPr/>
        </p:nvSpPr>
        <p:spPr>
          <a:xfrm>
            <a:off x="914400" y="3794760"/>
            <a:ext cx="2926080" cy="594360"/>
          </a:xfrm>
          <a:prstGeom prst="rect">
            <a:avLst/>
          </a:prstGeom>
          <a:noFill/>
          <a:ln/>
        </p:spPr>
        <p:txBody>
          <a:bodyPr wrap="square" lIns="0" tIns="0" rIns="0" bIns="0" rtlCol="0" anchor="ctr"/>
          <a:lstStyle/>
          <a:p>
            <a:pPr marL="0" indent="0">
              <a:spcAft>
                <a:spcPts val="200"/>
              </a:spcAft>
              <a:buNone/>
            </a:pPr>
            <a:r>
              <a:rPr lang="en-US" sz="1000" dirty="0">
                <a:solidFill>
                  <a:srgbClr val="2B2218"/>
                </a:solidFill>
                <a:latin typeface="Inter" pitchFamily="34" charset="0"/>
                <a:ea typeface="Inter" pitchFamily="34" charset="-122"/>
                <a:cs typeface="Inter" pitchFamily="34" charset="-120"/>
              </a:rPr>
              <a:t>70.844 filas extraídas en streaming</a:t>
            </a:r>
            <a:endParaRPr lang="en-US" sz="1000" dirty="0"/>
          </a:p>
        </p:txBody>
      </p:sp>
      <p:sp>
        <p:nvSpPr>
          <p:cNvPr id="11" name="Shape 9"/>
          <p:cNvSpPr/>
          <p:nvPr/>
        </p:nvSpPr>
        <p:spPr>
          <a:xfrm>
            <a:off x="4389120" y="2011680"/>
            <a:ext cx="3383280" cy="2377440"/>
          </a:xfrm>
          <a:prstGeom prst="rect">
            <a:avLst/>
          </a:prstGeom>
          <a:solidFill>
            <a:srgbClr val="EFE9DF"/>
          </a:solidFill>
          <a:ln/>
        </p:spPr>
        <p:txBody>
          <a:bodyPr/>
          <a:lstStyle/>
          <a:p>
            <a:endParaRPr lang="es-ES"/>
          </a:p>
        </p:txBody>
      </p:sp>
      <p:sp>
        <p:nvSpPr>
          <p:cNvPr id="12" name="Shape 10"/>
          <p:cNvSpPr/>
          <p:nvPr/>
        </p:nvSpPr>
        <p:spPr>
          <a:xfrm>
            <a:off x="4389120" y="2011680"/>
            <a:ext cx="64008" cy="2377440"/>
          </a:xfrm>
          <a:prstGeom prst="rect">
            <a:avLst/>
          </a:prstGeom>
          <a:solidFill>
            <a:srgbClr val="5C4A2F"/>
          </a:solidFill>
          <a:ln/>
        </p:spPr>
        <p:txBody>
          <a:bodyPr/>
          <a:lstStyle/>
          <a:p>
            <a:endParaRPr lang="es-ES"/>
          </a:p>
        </p:txBody>
      </p:sp>
      <p:sp>
        <p:nvSpPr>
          <p:cNvPr id="13" name="Text 11"/>
          <p:cNvSpPr/>
          <p:nvPr/>
        </p:nvSpPr>
        <p:spPr>
          <a:xfrm>
            <a:off x="4709160" y="2240280"/>
            <a:ext cx="2926080" cy="274320"/>
          </a:xfrm>
          <a:prstGeom prst="rect">
            <a:avLst/>
          </a:prstGeom>
          <a:noFill/>
          <a:ln/>
        </p:spPr>
        <p:txBody>
          <a:bodyPr wrap="square" lIns="0" tIns="0" rIns="0" bIns="0" rtlCol="0" anchor="ctr"/>
          <a:lstStyle/>
          <a:p>
            <a:pPr marL="0" indent="0">
              <a:buNone/>
            </a:pPr>
            <a:r>
              <a:rPr lang="en-US" sz="900" kern="0" spc="500" dirty="0">
                <a:solidFill>
                  <a:srgbClr val="8A7253"/>
                </a:solidFill>
                <a:latin typeface="Inter" pitchFamily="34" charset="0"/>
                <a:ea typeface="Inter" pitchFamily="34" charset="-122"/>
                <a:cs typeface="Inter" pitchFamily="34" charset="-120"/>
              </a:rPr>
              <a:t>DATA WAREHOUSE</a:t>
            </a:r>
            <a:endParaRPr lang="en-US" sz="900" dirty="0"/>
          </a:p>
        </p:txBody>
      </p:sp>
      <p:sp>
        <p:nvSpPr>
          <p:cNvPr id="14" name="Text 12"/>
          <p:cNvSpPr/>
          <p:nvPr/>
        </p:nvSpPr>
        <p:spPr>
          <a:xfrm>
            <a:off x="4709160" y="2514600"/>
            <a:ext cx="2926080" cy="914400"/>
          </a:xfrm>
          <a:prstGeom prst="rect">
            <a:avLst/>
          </a:prstGeom>
          <a:noFill/>
          <a:ln/>
        </p:spPr>
        <p:txBody>
          <a:bodyPr wrap="square" lIns="0" tIns="0" rIns="0" bIns="0" rtlCol="0" anchor="ctr"/>
          <a:lstStyle/>
          <a:p>
            <a:pPr marL="0" indent="0">
              <a:buNone/>
            </a:pPr>
            <a:r>
              <a:rPr lang="en-US" sz="4400" i="1" dirty="0">
                <a:solidFill>
                  <a:srgbClr val="5C4A2F"/>
                </a:solidFill>
                <a:latin typeface="Cormorant Garamond" pitchFamily="34" charset="0"/>
                <a:ea typeface="Cormorant Garamond" pitchFamily="34" charset="-122"/>
                <a:cs typeface="Cormorant Garamond" pitchFamily="34" charset="-120"/>
              </a:rPr>
              <a:t>4 + 2</a:t>
            </a:r>
            <a:endParaRPr lang="en-US" sz="4400" dirty="0"/>
          </a:p>
        </p:txBody>
      </p:sp>
      <p:sp>
        <p:nvSpPr>
          <p:cNvPr id="15" name="Text 13"/>
          <p:cNvSpPr/>
          <p:nvPr/>
        </p:nvSpPr>
        <p:spPr>
          <a:xfrm>
            <a:off x="4709160" y="3383280"/>
            <a:ext cx="2926080" cy="365760"/>
          </a:xfrm>
          <a:prstGeom prst="rect">
            <a:avLst/>
          </a:prstGeom>
          <a:noFill/>
          <a:ln/>
        </p:spPr>
        <p:txBody>
          <a:bodyPr wrap="square" lIns="0" tIns="0" rIns="0" bIns="0" rtlCol="0" anchor="ctr"/>
          <a:lstStyle/>
          <a:p>
            <a:pPr marL="0" indent="0">
              <a:buNone/>
            </a:pPr>
            <a:r>
              <a:rPr lang="en-US" sz="1600" i="1" dirty="0">
                <a:solidFill>
                  <a:srgbClr val="6B5A45"/>
                </a:solidFill>
                <a:latin typeface="Cormorant Garamond" pitchFamily="34" charset="0"/>
                <a:ea typeface="Cormorant Garamond" pitchFamily="34" charset="-122"/>
                <a:cs typeface="Cormorant Garamond" pitchFamily="34" charset="-120"/>
              </a:rPr>
              <a:t>Modelo estrella de Kimball</a:t>
            </a:r>
            <a:endParaRPr lang="en-US" sz="1600" dirty="0"/>
          </a:p>
        </p:txBody>
      </p:sp>
      <p:sp>
        <p:nvSpPr>
          <p:cNvPr id="16" name="Text 14"/>
          <p:cNvSpPr/>
          <p:nvPr/>
        </p:nvSpPr>
        <p:spPr>
          <a:xfrm>
            <a:off x="4709160" y="3794760"/>
            <a:ext cx="2926080" cy="594360"/>
          </a:xfrm>
          <a:prstGeom prst="rect">
            <a:avLst/>
          </a:prstGeom>
          <a:noFill/>
          <a:ln/>
        </p:spPr>
        <p:txBody>
          <a:bodyPr wrap="square" lIns="0" tIns="0" rIns="0" bIns="0" rtlCol="0" anchor="ctr"/>
          <a:lstStyle/>
          <a:p>
            <a:pPr marL="0" indent="0">
              <a:spcAft>
                <a:spcPts val="200"/>
              </a:spcAft>
              <a:buNone/>
            </a:pPr>
            <a:r>
              <a:rPr lang="en-US" sz="1000" dirty="0">
                <a:solidFill>
                  <a:srgbClr val="2B2218"/>
                </a:solidFill>
                <a:latin typeface="Inter" pitchFamily="34" charset="0"/>
                <a:ea typeface="Inter" pitchFamily="34" charset="-122"/>
                <a:cs typeface="Inter" pitchFamily="34" charset="-120"/>
              </a:rPr>
              <a:t>stg → dwh → marts</a:t>
            </a:r>
            <a:endParaRPr lang="en-US" sz="1000" dirty="0"/>
          </a:p>
          <a:p>
            <a:pPr marL="0" indent="0">
              <a:spcAft>
                <a:spcPts val="200"/>
              </a:spcAft>
              <a:buNone/>
            </a:pPr>
            <a:r>
              <a:rPr lang="en-US" sz="1000" dirty="0">
                <a:solidFill>
                  <a:srgbClr val="2B2218"/>
                </a:solidFill>
                <a:latin typeface="Inter" pitchFamily="34" charset="0"/>
                <a:ea typeface="Inter" pitchFamily="34" charset="-122"/>
                <a:cs typeface="Inter" pitchFamily="34" charset="-120"/>
              </a:rPr>
              <a:t>Surrogate keys · grano sale_item</a:t>
            </a:r>
            <a:endParaRPr lang="en-US" sz="1000" dirty="0"/>
          </a:p>
        </p:txBody>
      </p:sp>
      <p:sp>
        <p:nvSpPr>
          <p:cNvPr id="17" name="Shape 15"/>
          <p:cNvSpPr/>
          <p:nvPr/>
        </p:nvSpPr>
        <p:spPr>
          <a:xfrm>
            <a:off x="8183880" y="2011680"/>
            <a:ext cx="3383280" cy="2377440"/>
          </a:xfrm>
          <a:prstGeom prst="rect">
            <a:avLst/>
          </a:prstGeom>
          <a:solidFill>
            <a:srgbClr val="EFE9DF"/>
          </a:solidFill>
          <a:ln/>
        </p:spPr>
        <p:txBody>
          <a:bodyPr/>
          <a:lstStyle/>
          <a:p>
            <a:endParaRPr lang="es-ES"/>
          </a:p>
        </p:txBody>
      </p:sp>
      <p:sp>
        <p:nvSpPr>
          <p:cNvPr id="18" name="Shape 16"/>
          <p:cNvSpPr/>
          <p:nvPr/>
        </p:nvSpPr>
        <p:spPr>
          <a:xfrm>
            <a:off x="8183880" y="2011680"/>
            <a:ext cx="64008" cy="2377440"/>
          </a:xfrm>
          <a:prstGeom prst="rect">
            <a:avLst/>
          </a:prstGeom>
          <a:solidFill>
            <a:srgbClr val="5C4A2F"/>
          </a:solidFill>
          <a:ln/>
        </p:spPr>
        <p:txBody>
          <a:bodyPr/>
          <a:lstStyle/>
          <a:p>
            <a:endParaRPr lang="es-ES"/>
          </a:p>
        </p:txBody>
      </p:sp>
      <p:sp>
        <p:nvSpPr>
          <p:cNvPr id="19" name="Text 17"/>
          <p:cNvSpPr/>
          <p:nvPr/>
        </p:nvSpPr>
        <p:spPr>
          <a:xfrm>
            <a:off x="8503920" y="2240280"/>
            <a:ext cx="2926080" cy="274320"/>
          </a:xfrm>
          <a:prstGeom prst="rect">
            <a:avLst/>
          </a:prstGeom>
          <a:noFill/>
          <a:ln/>
        </p:spPr>
        <p:txBody>
          <a:bodyPr wrap="square" lIns="0" tIns="0" rIns="0" bIns="0" rtlCol="0" anchor="ctr"/>
          <a:lstStyle/>
          <a:p>
            <a:pPr marL="0" indent="0">
              <a:buNone/>
            </a:pPr>
            <a:r>
              <a:rPr lang="en-US" sz="900" kern="0" spc="500" dirty="0">
                <a:solidFill>
                  <a:srgbClr val="8A7253"/>
                </a:solidFill>
                <a:latin typeface="Inter" pitchFamily="34" charset="0"/>
                <a:ea typeface="Inter" pitchFamily="34" charset="-122"/>
                <a:cs typeface="Inter" pitchFamily="34" charset="-120"/>
              </a:rPr>
              <a:t>DASHBOARD</a:t>
            </a:r>
            <a:endParaRPr lang="en-US" sz="900" dirty="0"/>
          </a:p>
        </p:txBody>
      </p:sp>
      <p:sp>
        <p:nvSpPr>
          <p:cNvPr id="20" name="Text 18"/>
          <p:cNvSpPr/>
          <p:nvPr/>
        </p:nvSpPr>
        <p:spPr>
          <a:xfrm>
            <a:off x="8503920" y="2514600"/>
            <a:ext cx="2926080" cy="914400"/>
          </a:xfrm>
          <a:prstGeom prst="rect">
            <a:avLst/>
          </a:prstGeom>
          <a:noFill/>
          <a:ln/>
        </p:spPr>
        <p:txBody>
          <a:bodyPr wrap="square" lIns="0" tIns="0" rIns="0" bIns="0" rtlCol="0" anchor="ctr"/>
          <a:lstStyle/>
          <a:p>
            <a:pPr marL="0" indent="0">
              <a:buNone/>
            </a:pPr>
            <a:r>
              <a:rPr lang="en-US" sz="4400" i="1" dirty="0">
                <a:solidFill>
                  <a:srgbClr val="5C4A2F"/>
                </a:solidFill>
                <a:latin typeface="Cormorant Garamond" pitchFamily="34" charset="0"/>
                <a:ea typeface="Cormorant Garamond" pitchFamily="34" charset="-122"/>
                <a:cs typeface="Cormorant Garamond" pitchFamily="34" charset="-120"/>
              </a:rPr>
              <a:t>5 páginas</a:t>
            </a:r>
            <a:endParaRPr lang="en-US" sz="4400" dirty="0"/>
          </a:p>
        </p:txBody>
      </p:sp>
      <p:sp>
        <p:nvSpPr>
          <p:cNvPr id="21" name="Text 19"/>
          <p:cNvSpPr/>
          <p:nvPr/>
        </p:nvSpPr>
        <p:spPr>
          <a:xfrm>
            <a:off x="8503920" y="3383280"/>
            <a:ext cx="2926080" cy="365760"/>
          </a:xfrm>
          <a:prstGeom prst="rect">
            <a:avLst/>
          </a:prstGeom>
          <a:noFill/>
          <a:ln/>
        </p:spPr>
        <p:txBody>
          <a:bodyPr wrap="square" lIns="0" tIns="0" rIns="0" bIns="0" rtlCol="0" anchor="ctr"/>
          <a:lstStyle/>
          <a:p>
            <a:pPr marL="0" indent="0">
              <a:buNone/>
            </a:pPr>
            <a:r>
              <a:rPr lang="en-US" sz="1600" i="1" dirty="0">
                <a:solidFill>
                  <a:srgbClr val="6B5A45"/>
                </a:solidFill>
                <a:latin typeface="Cormorant Garamond" pitchFamily="34" charset="0"/>
                <a:ea typeface="Cormorant Garamond" pitchFamily="34" charset="-122"/>
                <a:cs typeface="Cormorant Garamond" pitchFamily="34" charset="-120"/>
              </a:rPr>
              <a:t>Streamlit + Plotly</a:t>
            </a:r>
            <a:endParaRPr lang="en-US" sz="1600" dirty="0"/>
          </a:p>
        </p:txBody>
      </p:sp>
      <p:sp>
        <p:nvSpPr>
          <p:cNvPr id="22" name="Text 20"/>
          <p:cNvSpPr/>
          <p:nvPr/>
        </p:nvSpPr>
        <p:spPr>
          <a:xfrm>
            <a:off x="8503920" y="3794760"/>
            <a:ext cx="2926080" cy="594360"/>
          </a:xfrm>
          <a:prstGeom prst="rect">
            <a:avLst/>
          </a:prstGeom>
          <a:noFill/>
          <a:ln/>
        </p:spPr>
        <p:txBody>
          <a:bodyPr wrap="square" lIns="0" tIns="0" rIns="0" bIns="0" rtlCol="0" anchor="ctr"/>
          <a:lstStyle/>
          <a:p>
            <a:pPr marL="0" indent="0">
              <a:spcAft>
                <a:spcPts val="200"/>
              </a:spcAft>
              <a:buNone/>
            </a:pPr>
            <a:r>
              <a:rPr lang="en-US" sz="1000" dirty="0">
                <a:solidFill>
                  <a:srgbClr val="2B2218"/>
                </a:solidFill>
                <a:latin typeface="Inter" pitchFamily="34" charset="0"/>
                <a:ea typeface="Inter" pitchFamily="34" charset="-122"/>
                <a:cs typeface="Inter" pitchFamily="34" charset="-120"/>
              </a:rPr>
              <a:t>KPIs · CLTV · segmentos · detalle · mapa</a:t>
            </a:r>
            <a:endParaRPr lang="en-US" sz="1000" dirty="0"/>
          </a:p>
        </p:txBody>
      </p:sp>
      <p:sp>
        <p:nvSpPr>
          <p:cNvPr id="23" name="Shape 21"/>
          <p:cNvSpPr/>
          <p:nvPr/>
        </p:nvSpPr>
        <p:spPr>
          <a:xfrm>
            <a:off x="4014216" y="3200400"/>
            <a:ext cx="338328" cy="0"/>
          </a:xfrm>
          <a:prstGeom prst="line">
            <a:avLst/>
          </a:prstGeom>
          <a:noFill/>
          <a:ln w="17780">
            <a:solidFill>
              <a:srgbClr val="5C4A2F"/>
            </a:solidFill>
            <a:prstDash val="solid"/>
            <a:tailEnd type="triangle"/>
          </a:ln>
        </p:spPr>
        <p:txBody>
          <a:bodyPr/>
          <a:lstStyle/>
          <a:p>
            <a:endParaRPr lang="es-ES"/>
          </a:p>
        </p:txBody>
      </p:sp>
      <p:sp>
        <p:nvSpPr>
          <p:cNvPr id="24" name="Shape 22"/>
          <p:cNvSpPr/>
          <p:nvPr/>
        </p:nvSpPr>
        <p:spPr>
          <a:xfrm>
            <a:off x="7808976" y="3200400"/>
            <a:ext cx="338328" cy="0"/>
          </a:xfrm>
          <a:prstGeom prst="line">
            <a:avLst/>
          </a:prstGeom>
          <a:noFill/>
          <a:ln w="17780">
            <a:solidFill>
              <a:srgbClr val="5C4A2F"/>
            </a:solidFill>
            <a:prstDash val="solid"/>
            <a:tailEnd type="triangle"/>
          </a:ln>
        </p:spPr>
        <p:txBody>
          <a:bodyPr/>
          <a:lstStyle/>
          <a:p>
            <a:endParaRPr lang="es-ES"/>
          </a:p>
        </p:txBody>
      </p:sp>
      <p:sp>
        <p:nvSpPr>
          <p:cNvPr id="25" name="Shape 23"/>
          <p:cNvSpPr/>
          <p:nvPr/>
        </p:nvSpPr>
        <p:spPr>
          <a:xfrm>
            <a:off x="548640" y="4526280"/>
            <a:ext cx="11064240" cy="1572768"/>
          </a:xfrm>
          <a:prstGeom prst="rect">
            <a:avLst/>
          </a:prstGeom>
          <a:solidFill>
            <a:srgbClr val="5C4A2F"/>
          </a:solidFill>
          <a:ln/>
        </p:spPr>
        <p:txBody>
          <a:bodyPr/>
          <a:lstStyle/>
          <a:p>
            <a:endParaRPr lang="es-ES"/>
          </a:p>
        </p:txBody>
      </p:sp>
      <p:sp>
        <p:nvSpPr>
          <p:cNvPr id="26" name="Text 24"/>
          <p:cNvSpPr/>
          <p:nvPr/>
        </p:nvSpPr>
        <p:spPr>
          <a:xfrm>
            <a:off x="777240" y="4636008"/>
            <a:ext cx="5943600" cy="256032"/>
          </a:xfrm>
          <a:prstGeom prst="rect">
            <a:avLst/>
          </a:prstGeom>
          <a:noFill/>
          <a:ln/>
        </p:spPr>
        <p:txBody>
          <a:bodyPr wrap="square" lIns="0" tIns="0" rIns="0" bIns="0" rtlCol="0" anchor="ctr"/>
          <a:lstStyle/>
          <a:p>
            <a:pPr marL="0" indent="0">
              <a:buNone/>
            </a:pPr>
            <a:r>
              <a:rPr lang="en-US" sz="900" kern="0" spc="500" dirty="0">
                <a:solidFill>
                  <a:srgbClr val="EFE9DF"/>
                </a:solidFill>
                <a:latin typeface="Inter" pitchFamily="34" charset="0"/>
                <a:ea typeface="Inter" pitchFamily="34" charset="-122"/>
                <a:cs typeface="Inter" pitchFamily="34" charset="-120"/>
              </a:rPr>
              <a:t>VOLUMEN POR CAPA · FILAS</a:t>
            </a:r>
            <a:endParaRPr lang="en-US" sz="900" dirty="0"/>
          </a:p>
        </p:txBody>
      </p:sp>
      <p:graphicFrame>
        <p:nvGraphicFramePr>
          <p:cNvPr id="27" name="Chart 0"/>
          <p:cNvGraphicFramePr/>
          <p:nvPr/>
        </p:nvGraphicFramePr>
        <p:xfrm>
          <a:off x="777240" y="4910328"/>
          <a:ext cx="4937760" cy="1078992"/>
        </p:xfrm>
        <a:graphic>
          <a:graphicData uri="http://schemas.openxmlformats.org/drawingml/2006/chart">
            <c:chart xmlns:c="http://schemas.openxmlformats.org/drawingml/2006/chart" xmlns:r="http://schemas.openxmlformats.org/officeDocument/2006/relationships" r:id="rId3"/>
          </a:graphicData>
        </a:graphic>
      </p:graphicFrame>
      <p:sp>
        <p:nvSpPr>
          <p:cNvPr id="28" name="Text 25"/>
          <p:cNvSpPr/>
          <p:nvPr/>
        </p:nvSpPr>
        <p:spPr>
          <a:xfrm>
            <a:off x="5760720" y="5833872"/>
            <a:ext cx="1005840" cy="256032"/>
          </a:xfrm>
          <a:prstGeom prst="rect">
            <a:avLst/>
          </a:prstGeom>
          <a:noFill/>
          <a:ln/>
        </p:spPr>
        <p:txBody>
          <a:bodyPr wrap="square" lIns="0" tIns="0" rIns="0" bIns="0" rtlCol="0" anchor="ctr"/>
          <a:lstStyle/>
          <a:p>
            <a:pPr marL="0" indent="0">
              <a:buNone/>
            </a:pPr>
            <a:r>
              <a:rPr lang="en-US" sz="1300" b="1" i="1" dirty="0">
                <a:solidFill>
                  <a:srgbClr val="FFFFFF"/>
                </a:solidFill>
                <a:latin typeface="Cormorant Garamond" pitchFamily="34" charset="0"/>
                <a:ea typeface="Cormorant Garamond" pitchFamily="34" charset="-122"/>
                <a:cs typeface="Cormorant Garamond" pitchFamily="34" charset="-120"/>
              </a:rPr>
              <a:t>70.844</a:t>
            </a:r>
            <a:endParaRPr lang="en-US" sz="1300" dirty="0"/>
          </a:p>
        </p:txBody>
      </p:sp>
      <p:sp>
        <p:nvSpPr>
          <p:cNvPr id="29" name="Text 26"/>
          <p:cNvSpPr/>
          <p:nvPr/>
        </p:nvSpPr>
        <p:spPr>
          <a:xfrm>
            <a:off x="5760720" y="5394960"/>
            <a:ext cx="1005840" cy="256032"/>
          </a:xfrm>
          <a:prstGeom prst="rect">
            <a:avLst/>
          </a:prstGeom>
          <a:noFill/>
          <a:ln/>
        </p:spPr>
        <p:txBody>
          <a:bodyPr wrap="square" lIns="0" tIns="0" rIns="0" bIns="0" rtlCol="0" anchor="ctr"/>
          <a:lstStyle/>
          <a:p>
            <a:pPr marL="0" indent="0">
              <a:buNone/>
            </a:pPr>
            <a:r>
              <a:rPr lang="en-US" sz="1300" b="1" i="1" dirty="0">
                <a:solidFill>
                  <a:srgbClr val="FFFFFF"/>
                </a:solidFill>
                <a:latin typeface="Cormorant Garamond" pitchFamily="34" charset="0"/>
                <a:ea typeface="Cormorant Garamond" pitchFamily="34" charset="-122"/>
                <a:cs typeface="Cormorant Garamond" pitchFamily="34" charset="-120"/>
              </a:rPr>
              <a:t>70.844</a:t>
            </a:r>
            <a:endParaRPr lang="en-US" sz="1300" dirty="0"/>
          </a:p>
        </p:txBody>
      </p:sp>
      <p:sp>
        <p:nvSpPr>
          <p:cNvPr id="30" name="Text 27"/>
          <p:cNvSpPr/>
          <p:nvPr/>
        </p:nvSpPr>
        <p:spPr>
          <a:xfrm>
            <a:off x="5760720" y="4956048"/>
            <a:ext cx="1005840" cy="256032"/>
          </a:xfrm>
          <a:prstGeom prst="rect">
            <a:avLst/>
          </a:prstGeom>
          <a:noFill/>
          <a:ln/>
        </p:spPr>
        <p:txBody>
          <a:bodyPr wrap="square" lIns="0" tIns="0" rIns="0" bIns="0" rtlCol="0" anchor="ctr"/>
          <a:lstStyle/>
          <a:p>
            <a:pPr marL="0" indent="0">
              <a:buNone/>
            </a:pPr>
            <a:r>
              <a:rPr lang="en-US" sz="1300" b="1" i="1" dirty="0">
                <a:solidFill>
                  <a:srgbClr val="FFFFFF"/>
                </a:solidFill>
                <a:latin typeface="Cormorant Garamond" pitchFamily="34" charset="0"/>
                <a:ea typeface="Cormorant Garamond" pitchFamily="34" charset="-122"/>
                <a:cs typeface="Cormorant Garamond" pitchFamily="34" charset="-120"/>
              </a:rPr>
              <a:t>11.500</a:t>
            </a:r>
            <a:endParaRPr lang="en-US" sz="1300" dirty="0"/>
          </a:p>
        </p:txBody>
      </p:sp>
      <p:sp>
        <p:nvSpPr>
          <p:cNvPr id="31" name="Text 28"/>
          <p:cNvSpPr/>
          <p:nvPr/>
        </p:nvSpPr>
        <p:spPr>
          <a:xfrm>
            <a:off x="7040880" y="4663440"/>
            <a:ext cx="2286000" cy="411480"/>
          </a:xfrm>
          <a:prstGeom prst="rect">
            <a:avLst/>
          </a:prstGeom>
          <a:noFill/>
          <a:ln/>
        </p:spPr>
        <p:txBody>
          <a:bodyPr wrap="square" lIns="0" tIns="0" rIns="0" bIns="0" rtlCol="0" anchor="ctr"/>
          <a:lstStyle/>
          <a:p>
            <a:pPr marL="0" indent="0">
              <a:buNone/>
            </a:pPr>
            <a:r>
              <a:rPr lang="en-US" sz="2600" b="1" i="1" dirty="0">
                <a:solidFill>
                  <a:srgbClr val="FFFFFF"/>
                </a:solidFill>
                <a:latin typeface="Cormorant Garamond" pitchFamily="34" charset="0"/>
                <a:ea typeface="Cormorant Garamond" pitchFamily="34" charset="-122"/>
                <a:cs typeface="Cormorant Garamond" pitchFamily="34" charset="-120"/>
              </a:rPr>
              <a:t>70.844</a:t>
            </a:r>
            <a:endParaRPr lang="en-US" sz="2600" dirty="0"/>
          </a:p>
        </p:txBody>
      </p:sp>
      <p:sp>
        <p:nvSpPr>
          <p:cNvPr id="32" name="Text 29"/>
          <p:cNvSpPr/>
          <p:nvPr/>
        </p:nvSpPr>
        <p:spPr>
          <a:xfrm>
            <a:off x="9326880" y="4754880"/>
            <a:ext cx="2286000" cy="274320"/>
          </a:xfrm>
          <a:prstGeom prst="rect">
            <a:avLst/>
          </a:prstGeom>
          <a:noFill/>
          <a:ln/>
        </p:spPr>
        <p:txBody>
          <a:bodyPr wrap="square" lIns="0" tIns="0" rIns="0" bIns="0" rtlCol="0" anchor="ctr"/>
          <a:lstStyle/>
          <a:p>
            <a:pPr marL="0" indent="0">
              <a:buNone/>
            </a:pPr>
            <a:r>
              <a:rPr lang="en-US" sz="900" kern="0" spc="400" dirty="0">
                <a:solidFill>
                  <a:srgbClr val="EFE9DF"/>
                </a:solidFill>
                <a:latin typeface="Inter" pitchFamily="34" charset="0"/>
                <a:ea typeface="Inter" pitchFamily="34" charset="-122"/>
                <a:cs typeface="Inter" pitchFamily="34" charset="-120"/>
              </a:rPr>
              <a:t>FILAS PROCESADAS</a:t>
            </a:r>
            <a:endParaRPr lang="en-US" sz="900" dirty="0"/>
          </a:p>
        </p:txBody>
      </p:sp>
      <p:sp>
        <p:nvSpPr>
          <p:cNvPr id="33" name="Text 30"/>
          <p:cNvSpPr/>
          <p:nvPr/>
        </p:nvSpPr>
        <p:spPr>
          <a:xfrm>
            <a:off x="7040880" y="5120640"/>
            <a:ext cx="2286000" cy="411480"/>
          </a:xfrm>
          <a:prstGeom prst="rect">
            <a:avLst/>
          </a:prstGeom>
          <a:noFill/>
          <a:ln/>
        </p:spPr>
        <p:txBody>
          <a:bodyPr wrap="square" lIns="0" tIns="0" rIns="0" bIns="0" rtlCol="0" anchor="ctr"/>
          <a:lstStyle/>
          <a:p>
            <a:pPr marL="0" indent="0">
              <a:buNone/>
            </a:pPr>
            <a:r>
              <a:rPr lang="en-US" sz="2600" b="1" i="1" dirty="0">
                <a:solidFill>
                  <a:srgbClr val="FFFFFF"/>
                </a:solidFill>
                <a:latin typeface="Cormorant Garamond" pitchFamily="34" charset="0"/>
                <a:ea typeface="Cormorant Garamond" pitchFamily="34" charset="-122"/>
                <a:cs typeface="Cormorant Garamond" pitchFamily="34" charset="-120"/>
              </a:rPr>
              <a:t>75 s</a:t>
            </a:r>
            <a:endParaRPr lang="en-US" sz="2600" dirty="0"/>
          </a:p>
        </p:txBody>
      </p:sp>
      <p:sp>
        <p:nvSpPr>
          <p:cNvPr id="34" name="Text 31"/>
          <p:cNvSpPr/>
          <p:nvPr/>
        </p:nvSpPr>
        <p:spPr>
          <a:xfrm>
            <a:off x="9326880" y="5212080"/>
            <a:ext cx="2286000" cy="274320"/>
          </a:xfrm>
          <a:prstGeom prst="rect">
            <a:avLst/>
          </a:prstGeom>
          <a:noFill/>
          <a:ln/>
        </p:spPr>
        <p:txBody>
          <a:bodyPr wrap="square" lIns="0" tIns="0" rIns="0" bIns="0" rtlCol="0" anchor="ctr"/>
          <a:lstStyle/>
          <a:p>
            <a:pPr marL="0" indent="0">
              <a:buNone/>
            </a:pPr>
            <a:r>
              <a:rPr lang="en-US" sz="900" kern="0" spc="400" dirty="0">
                <a:solidFill>
                  <a:srgbClr val="EFE9DF"/>
                </a:solidFill>
                <a:latin typeface="Inter" pitchFamily="34" charset="0"/>
                <a:ea typeface="Inter" pitchFamily="34" charset="-122"/>
                <a:cs typeface="Inter" pitchFamily="34" charset="-120"/>
              </a:rPr>
              <a:t>PIPELINE END-TO-END</a:t>
            </a:r>
            <a:endParaRPr lang="en-US" sz="900" dirty="0"/>
          </a:p>
        </p:txBody>
      </p:sp>
      <p:sp>
        <p:nvSpPr>
          <p:cNvPr id="35" name="Text 32"/>
          <p:cNvSpPr/>
          <p:nvPr/>
        </p:nvSpPr>
        <p:spPr>
          <a:xfrm>
            <a:off x="7040880" y="5577840"/>
            <a:ext cx="2286000" cy="411480"/>
          </a:xfrm>
          <a:prstGeom prst="rect">
            <a:avLst/>
          </a:prstGeom>
          <a:noFill/>
          <a:ln/>
        </p:spPr>
        <p:txBody>
          <a:bodyPr wrap="square" lIns="0" tIns="0" rIns="0" bIns="0" rtlCol="0" anchor="ctr"/>
          <a:lstStyle/>
          <a:p>
            <a:pPr marL="0" indent="0">
              <a:buNone/>
            </a:pPr>
            <a:r>
              <a:rPr lang="en-US" sz="2600" b="1" i="1" dirty="0">
                <a:solidFill>
                  <a:srgbClr val="FFFFFF"/>
                </a:solidFill>
                <a:latin typeface="Cormorant Garamond" pitchFamily="34" charset="0"/>
                <a:ea typeface="Cormorant Garamond" pitchFamily="34" charset="-122"/>
                <a:cs typeface="Cormorant Garamond" pitchFamily="34" charset="-120"/>
              </a:rPr>
              <a:t>20</a:t>
            </a:r>
            <a:endParaRPr lang="en-US" sz="2600" dirty="0"/>
          </a:p>
        </p:txBody>
      </p:sp>
      <p:sp>
        <p:nvSpPr>
          <p:cNvPr id="36" name="Text 33"/>
          <p:cNvSpPr/>
          <p:nvPr/>
        </p:nvSpPr>
        <p:spPr>
          <a:xfrm>
            <a:off x="9326880" y="5669280"/>
            <a:ext cx="2286000" cy="274320"/>
          </a:xfrm>
          <a:prstGeom prst="rect">
            <a:avLst/>
          </a:prstGeom>
          <a:noFill/>
          <a:ln/>
        </p:spPr>
        <p:txBody>
          <a:bodyPr wrap="square" lIns="0" tIns="0" rIns="0" bIns="0" rtlCol="0" anchor="ctr"/>
          <a:lstStyle/>
          <a:p>
            <a:pPr marL="0" indent="0">
              <a:buNone/>
            </a:pPr>
            <a:r>
              <a:rPr lang="en-US" sz="900" kern="0" spc="400" dirty="0">
                <a:solidFill>
                  <a:srgbClr val="EFE9DF"/>
                </a:solidFill>
                <a:latin typeface="Inter" pitchFamily="34" charset="0"/>
                <a:ea typeface="Inter" pitchFamily="34" charset="-122"/>
                <a:cs typeface="Inter" pitchFamily="34" charset="-120"/>
              </a:rPr>
              <a:t>CHECKS DE CALIDAD</a:t>
            </a:r>
            <a:endParaRPr lang="en-US" sz="900" dirty="0"/>
          </a:p>
        </p:txBody>
      </p:sp>
      <p:sp>
        <p:nvSpPr>
          <p:cNvPr id="37" name="Text 34"/>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5A45"/>
                </a:solidFill>
                <a:latin typeface="Inter" pitchFamily="34" charset="0"/>
                <a:ea typeface="Inter" pitchFamily="34" charset="-122"/>
                <a:cs typeface="Inter" pitchFamily="34" charset="-120"/>
              </a:rPr>
              <a:t>Saleshealth · CLTV   ·   Judith Salas · UAX 2025/26</a:t>
            </a:r>
            <a:endParaRPr lang="en-US" sz="900" dirty="0"/>
          </a:p>
        </p:txBody>
      </p:sp>
      <p:sp>
        <p:nvSpPr>
          <p:cNvPr id="38" name="Text 35"/>
          <p:cNvSpPr/>
          <p:nvPr/>
        </p:nvSpPr>
        <p:spPr>
          <a:xfrm>
            <a:off x="10881360" y="6473952"/>
            <a:ext cx="731520" cy="274320"/>
          </a:xfrm>
          <a:prstGeom prst="rect">
            <a:avLst/>
          </a:prstGeom>
          <a:noFill/>
          <a:ln/>
        </p:spPr>
        <p:txBody>
          <a:bodyPr wrap="square" lIns="0" tIns="0" rIns="0" bIns="0" rtlCol="0" anchor="ctr"/>
          <a:lstStyle/>
          <a:p>
            <a:pPr marL="0" indent="0" algn="r">
              <a:buNone/>
            </a:pPr>
            <a:r>
              <a:rPr lang="en-US" sz="900" dirty="0">
                <a:solidFill>
                  <a:srgbClr val="6B5A45"/>
                </a:solidFill>
                <a:latin typeface="Inter" pitchFamily="34" charset="0"/>
                <a:ea typeface="Inter" pitchFamily="34" charset="-122"/>
                <a:cs typeface="Inter" pitchFamily="34" charset="-120"/>
              </a:rPr>
              <a:t>2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F"/>
        </a:solidFill>
        <a:effectLst/>
      </p:bgPr>
    </p:bg>
    <p:spTree>
      <p:nvGrpSpPr>
        <p:cNvPr id="1" name=""/>
        <p:cNvGrpSpPr/>
        <p:nvPr/>
      </p:nvGrpSpPr>
      <p:grpSpPr>
        <a:xfrm>
          <a:off x="0" y="0"/>
          <a:ext cx="0" cy="0"/>
          <a:chOff x="0" y="0"/>
          <a:chExt cx="0" cy="0"/>
        </a:xfrm>
      </p:grpSpPr>
      <p:sp>
        <p:nvSpPr>
          <p:cNvPr id="2" name="Text 0"/>
          <p:cNvSpPr/>
          <p:nvPr/>
        </p:nvSpPr>
        <p:spPr>
          <a:xfrm>
            <a:off x="548640" y="201168"/>
            <a:ext cx="10972800" cy="274320"/>
          </a:xfrm>
          <a:prstGeom prst="rect">
            <a:avLst/>
          </a:prstGeom>
          <a:noFill/>
          <a:ln/>
        </p:spPr>
        <p:txBody>
          <a:bodyPr wrap="square" lIns="0" tIns="0" rIns="0" bIns="0" rtlCol="0" anchor="ctr"/>
          <a:lstStyle/>
          <a:p>
            <a:pPr marL="0" indent="0">
              <a:buNone/>
            </a:pPr>
            <a:r>
              <a:rPr lang="en-US" sz="950" kern="0" spc="600" dirty="0">
                <a:solidFill>
                  <a:srgbClr val="6B5A45"/>
                </a:solidFill>
                <a:latin typeface="Inter" pitchFamily="34" charset="0"/>
                <a:ea typeface="Inter" pitchFamily="34" charset="-122"/>
                <a:cs typeface="Inter" pitchFamily="34" charset="-120"/>
              </a:rPr>
              <a:t>CAPÍTULO 2 · CÁLCULO DEL CLTV</a:t>
            </a:r>
            <a:endParaRPr lang="en-US" sz="950" dirty="0"/>
          </a:p>
        </p:txBody>
      </p:sp>
      <p:sp>
        <p:nvSpPr>
          <p:cNvPr id="3" name="Text 1"/>
          <p:cNvSpPr/>
          <p:nvPr/>
        </p:nvSpPr>
        <p:spPr>
          <a:xfrm>
            <a:off x="548640" y="502920"/>
            <a:ext cx="10972800" cy="548640"/>
          </a:xfrm>
          <a:prstGeom prst="rect">
            <a:avLst/>
          </a:prstGeom>
          <a:noFill/>
          <a:ln/>
        </p:spPr>
        <p:txBody>
          <a:bodyPr wrap="square" lIns="0" tIns="0" rIns="0" bIns="0" rtlCol="0" anchor="ctr"/>
          <a:lstStyle/>
          <a:p>
            <a:pPr marL="0" indent="0">
              <a:buNone/>
            </a:pPr>
            <a:r>
              <a:rPr lang="en-US" sz="3000" i="1" dirty="0">
                <a:solidFill>
                  <a:srgbClr val="5C4A2F"/>
                </a:solidFill>
                <a:latin typeface="Cormorant Garamond" pitchFamily="34" charset="0"/>
                <a:ea typeface="Cormorant Garamond" pitchFamily="34" charset="-122"/>
                <a:cs typeface="Cormorant Garamond" pitchFamily="34" charset="-120"/>
              </a:rPr>
              <a:t>Una fórmula, dos preguntas distintas</a:t>
            </a:r>
            <a:endParaRPr lang="en-US" sz="3000" dirty="0"/>
          </a:p>
        </p:txBody>
      </p:sp>
      <p:sp>
        <p:nvSpPr>
          <p:cNvPr id="4" name="Text 2"/>
          <p:cNvSpPr/>
          <p:nvPr/>
        </p:nvSpPr>
        <p:spPr>
          <a:xfrm>
            <a:off x="548640" y="960120"/>
            <a:ext cx="10972800" cy="548640"/>
          </a:xfrm>
          <a:prstGeom prst="rect">
            <a:avLst/>
          </a:prstGeom>
          <a:noFill/>
          <a:ln/>
        </p:spPr>
        <p:txBody>
          <a:bodyPr wrap="square" lIns="0" tIns="0" rIns="0" bIns="0" rtlCol="0" anchor="ctr"/>
          <a:lstStyle/>
          <a:p>
            <a:pPr marL="0" indent="0">
              <a:buNone/>
            </a:pPr>
            <a:r>
              <a:rPr lang="en-US" sz="3000" i="1" dirty="0">
                <a:solidFill>
                  <a:srgbClr val="5C4A2F"/>
                </a:solidFill>
                <a:latin typeface="Cormorant Garamond" pitchFamily="34" charset="0"/>
                <a:ea typeface="Cormorant Garamond" pitchFamily="34" charset="-122"/>
                <a:cs typeface="Cormorant Garamond" pitchFamily="34" charset="-120"/>
              </a:rPr>
              <a:t>y el mismo cliente en el centro</a:t>
            </a:r>
            <a:endParaRPr lang="en-US" sz="3000" dirty="0"/>
          </a:p>
        </p:txBody>
      </p:sp>
      <p:sp>
        <p:nvSpPr>
          <p:cNvPr id="5" name="Shape 3"/>
          <p:cNvSpPr/>
          <p:nvPr/>
        </p:nvSpPr>
        <p:spPr>
          <a:xfrm>
            <a:off x="548640" y="1828800"/>
            <a:ext cx="5212080" cy="2651760"/>
          </a:xfrm>
          <a:prstGeom prst="rect">
            <a:avLst/>
          </a:prstGeom>
          <a:solidFill>
            <a:srgbClr val="EFE9DF"/>
          </a:solidFill>
          <a:ln/>
        </p:spPr>
        <p:txBody>
          <a:bodyPr/>
          <a:lstStyle/>
          <a:p>
            <a:endParaRPr lang="es-ES"/>
          </a:p>
        </p:txBody>
      </p:sp>
      <p:sp>
        <p:nvSpPr>
          <p:cNvPr id="6" name="Shape 4"/>
          <p:cNvSpPr/>
          <p:nvPr/>
        </p:nvSpPr>
        <p:spPr>
          <a:xfrm>
            <a:off x="548640" y="1828800"/>
            <a:ext cx="64008" cy="2651760"/>
          </a:xfrm>
          <a:prstGeom prst="rect">
            <a:avLst/>
          </a:prstGeom>
          <a:solidFill>
            <a:srgbClr val="8A7253"/>
          </a:solidFill>
          <a:ln/>
        </p:spPr>
        <p:txBody>
          <a:bodyPr/>
          <a:lstStyle/>
          <a:p>
            <a:endParaRPr lang="es-ES"/>
          </a:p>
        </p:txBody>
      </p:sp>
      <p:sp>
        <p:nvSpPr>
          <p:cNvPr id="7" name="Text 5"/>
          <p:cNvSpPr/>
          <p:nvPr/>
        </p:nvSpPr>
        <p:spPr>
          <a:xfrm>
            <a:off x="868680" y="2057400"/>
            <a:ext cx="4754880" cy="274320"/>
          </a:xfrm>
          <a:prstGeom prst="rect">
            <a:avLst/>
          </a:prstGeom>
          <a:noFill/>
          <a:ln/>
        </p:spPr>
        <p:txBody>
          <a:bodyPr wrap="square" lIns="0" tIns="0" rIns="0" bIns="0" rtlCol="0" anchor="ctr"/>
          <a:lstStyle/>
          <a:p>
            <a:pPr marL="0" indent="0">
              <a:buNone/>
            </a:pPr>
            <a:r>
              <a:rPr lang="en-US" sz="900" kern="0" spc="500" dirty="0">
                <a:solidFill>
                  <a:srgbClr val="8A7253"/>
                </a:solidFill>
                <a:latin typeface="Inter" pitchFamily="34" charset="0"/>
                <a:ea typeface="Inter" pitchFamily="34" charset="-122"/>
                <a:cs typeface="Inter" pitchFamily="34" charset="-120"/>
              </a:rPr>
              <a:t>FÓRMULA DEL ENUNCIADO</a:t>
            </a:r>
            <a:endParaRPr lang="en-US" sz="900" dirty="0"/>
          </a:p>
        </p:txBody>
      </p:sp>
      <p:sp>
        <p:nvSpPr>
          <p:cNvPr id="8" name="Text 6"/>
          <p:cNvSpPr/>
          <p:nvPr/>
        </p:nvSpPr>
        <p:spPr>
          <a:xfrm>
            <a:off x="868680" y="2331720"/>
            <a:ext cx="4754880" cy="502920"/>
          </a:xfrm>
          <a:prstGeom prst="rect">
            <a:avLst/>
          </a:prstGeom>
          <a:noFill/>
          <a:ln/>
        </p:spPr>
        <p:txBody>
          <a:bodyPr wrap="square" lIns="0" tIns="0" rIns="0" bIns="0" rtlCol="0" anchor="ctr"/>
          <a:lstStyle/>
          <a:p>
            <a:pPr marL="0" indent="0">
              <a:buNone/>
            </a:pPr>
            <a:r>
              <a:rPr lang="en-US" sz="2800" i="1" dirty="0">
                <a:solidFill>
                  <a:srgbClr val="5C4A2F"/>
                </a:solidFill>
                <a:latin typeface="Cormorant Garamond" pitchFamily="34" charset="0"/>
                <a:ea typeface="Cormorant Garamond" pitchFamily="34" charset="-122"/>
                <a:cs typeface="Cormorant Garamond" pitchFamily="34" charset="-120"/>
              </a:rPr>
              <a:t>CLTV simple</a:t>
            </a:r>
            <a:endParaRPr lang="en-US" sz="2800" dirty="0"/>
          </a:p>
        </p:txBody>
      </p:sp>
      <p:sp>
        <p:nvSpPr>
          <p:cNvPr id="9" name="Text 7"/>
          <p:cNvSpPr/>
          <p:nvPr/>
        </p:nvSpPr>
        <p:spPr>
          <a:xfrm>
            <a:off x="868680" y="2926080"/>
            <a:ext cx="4754880" cy="411480"/>
          </a:xfrm>
          <a:prstGeom prst="rect">
            <a:avLst/>
          </a:prstGeom>
          <a:noFill/>
          <a:ln/>
        </p:spPr>
        <p:txBody>
          <a:bodyPr wrap="square" lIns="0" tIns="0" rIns="0" bIns="0" rtlCol="0" anchor="ctr"/>
          <a:lstStyle/>
          <a:p>
            <a:pPr marL="0" indent="0">
              <a:buNone/>
            </a:pPr>
            <a:r>
              <a:rPr lang="en-US" sz="2000" i="1" dirty="0">
                <a:solidFill>
                  <a:srgbClr val="2B2218"/>
                </a:solidFill>
                <a:latin typeface="Cormorant Garamond" pitchFamily="34" charset="0"/>
                <a:ea typeface="Cormorant Garamond" pitchFamily="34" charset="-122"/>
                <a:cs typeface="Cormorant Garamond" pitchFamily="34" charset="-120"/>
              </a:rPr>
              <a:t>AOV  ×  Frecuencia  ×  Vida útil</a:t>
            </a:r>
            <a:endParaRPr lang="en-US" sz="2000" dirty="0"/>
          </a:p>
        </p:txBody>
      </p:sp>
      <p:sp>
        <p:nvSpPr>
          <p:cNvPr id="10" name="Text 8"/>
          <p:cNvSpPr/>
          <p:nvPr/>
        </p:nvSpPr>
        <p:spPr>
          <a:xfrm>
            <a:off x="868680" y="3520440"/>
            <a:ext cx="4754880" cy="914400"/>
          </a:xfrm>
          <a:prstGeom prst="rect">
            <a:avLst/>
          </a:prstGeom>
          <a:noFill/>
          <a:ln/>
        </p:spPr>
        <p:txBody>
          <a:bodyPr wrap="square" lIns="0" tIns="0" rIns="0" bIns="0" rtlCol="0" anchor="ctr"/>
          <a:lstStyle/>
          <a:p>
            <a:pPr marL="0" indent="0">
              <a:spcAft>
                <a:spcPts val="500"/>
              </a:spcAft>
              <a:buNone/>
            </a:pPr>
            <a:r>
              <a:rPr lang="en-US" sz="1200" dirty="0">
                <a:solidFill>
                  <a:srgbClr val="2B2218"/>
                </a:solidFill>
                <a:latin typeface="Inter" pitchFamily="34" charset="0"/>
                <a:ea typeface="Inter" pitchFamily="34" charset="-122"/>
                <a:cs typeface="Inter" pitchFamily="34" charset="-120"/>
              </a:rPr>
              <a:t>Determinista, calculada sobre el histórico.</a:t>
            </a:r>
            <a:endParaRPr lang="en-US" sz="1200" dirty="0"/>
          </a:p>
          <a:p>
            <a:pPr marL="0" indent="0">
              <a:spcAft>
                <a:spcPts val="500"/>
              </a:spcAft>
              <a:buNone/>
            </a:pPr>
            <a:r>
              <a:rPr lang="en-US" sz="1200" dirty="0">
                <a:solidFill>
                  <a:srgbClr val="2B2218"/>
                </a:solidFill>
                <a:latin typeface="Inter" pitchFamily="34" charset="0"/>
                <a:ea typeface="Inter" pitchFamily="34" charset="-122"/>
                <a:cs typeface="Inter" pitchFamily="34" charset="-120"/>
              </a:rPr>
              <a:t>Responde: ¿cuál es el valor actual del cliente?</a:t>
            </a:r>
            <a:endParaRPr lang="en-US" sz="1200" dirty="0"/>
          </a:p>
        </p:txBody>
      </p:sp>
      <p:sp>
        <p:nvSpPr>
          <p:cNvPr id="11" name="Shape 9"/>
          <p:cNvSpPr/>
          <p:nvPr/>
        </p:nvSpPr>
        <p:spPr>
          <a:xfrm>
            <a:off x="6400800" y="1828800"/>
            <a:ext cx="5212080" cy="2651760"/>
          </a:xfrm>
          <a:prstGeom prst="rect">
            <a:avLst/>
          </a:prstGeom>
          <a:solidFill>
            <a:srgbClr val="5C4A2F"/>
          </a:solidFill>
          <a:ln/>
        </p:spPr>
        <p:txBody>
          <a:bodyPr/>
          <a:lstStyle/>
          <a:p>
            <a:endParaRPr lang="es-ES"/>
          </a:p>
        </p:txBody>
      </p:sp>
      <p:sp>
        <p:nvSpPr>
          <p:cNvPr id="12" name="Text 10"/>
          <p:cNvSpPr/>
          <p:nvPr/>
        </p:nvSpPr>
        <p:spPr>
          <a:xfrm>
            <a:off x="6720840" y="2057400"/>
            <a:ext cx="4754880" cy="274320"/>
          </a:xfrm>
          <a:prstGeom prst="rect">
            <a:avLst/>
          </a:prstGeom>
          <a:noFill/>
          <a:ln/>
        </p:spPr>
        <p:txBody>
          <a:bodyPr wrap="square" lIns="0" tIns="0" rIns="0" bIns="0" rtlCol="0" anchor="ctr"/>
          <a:lstStyle/>
          <a:p>
            <a:pPr marL="0" indent="0">
              <a:buNone/>
            </a:pPr>
            <a:r>
              <a:rPr lang="en-US" sz="900" kern="0" spc="500" dirty="0">
                <a:solidFill>
                  <a:srgbClr val="EFE9DF"/>
                </a:solidFill>
                <a:latin typeface="Inter" pitchFamily="34" charset="0"/>
                <a:ea typeface="Inter" pitchFamily="34" charset="-122"/>
                <a:cs typeface="Inter" pitchFamily="34" charset="-120"/>
              </a:rPr>
              <a:t>EXTENSIÓN · ESTÁNDAR DE INDUSTRIA</a:t>
            </a:r>
            <a:endParaRPr lang="en-US" sz="900" dirty="0"/>
          </a:p>
        </p:txBody>
      </p:sp>
      <p:sp>
        <p:nvSpPr>
          <p:cNvPr id="13" name="Text 11"/>
          <p:cNvSpPr/>
          <p:nvPr/>
        </p:nvSpPr>
        <p:spPr>
          <a:xfrm>
            <a:off x="6720840" y="2331720"/>
            <a:ext cx="4754880" cy="502920"/>
          </a:xfrm>
          <a:prstGeom prst="rect">
            <a:avLst/>
          </a:prstGeom>
          <a:noFill/>
          <a:ln/>
        </p:spPr>
        <p:txBody>
          <a:bodyPr wrap="square" lIns="0" tIns="0" rIns="0" bIns="0" rtlCol="0" anchor="ctr"/>
          <a:lstStyle/>
          <a:p>
            <a:pPr marL="0" indent="0">
              <a:buNone/>
            </a:pPr>
            <a:r>
              <a:rPr lang="en-US" sz="2800" i="1" dirty="0">
                <a:solidFill>
                  <a:srgbClr val="FFFFFF"/>
                </a:solidFill>
                <a:latin typeface="Cormorant Garamond" pitchFamily="34" charset="0"/>
                <a:ea typeface="Cormorant Garamond" pitchFamily="34" charset="-122"/>
                <a:cs typeface="Cormorant Garamond" pitchFamily="34" charset="-120"/>
              </a:rPr>
              <a:t>CLTV probabilístico</a:t>
            </a:r>
            <a:endParaRPr lang="en-US" sz="2800" dirty="0"/>
          </a:p>
        </p:txBody>
      </p:sp>
      <p:sp>
        <p:nvSpPr>
          <p:cNvPr id="14" name="Text 12"/>
          <p:cNvSpPr/>
          <p:nvPr/>
        </p:nvSpPr>
        <p:spPr>
          <a:xfrm>
            <a:off x="6720840" y="2926080"/>
            <a:ext cx="4754880" cy="411480"/>
          </a:xfrm>
          <a:prstGeom prst="rect">
            <a:avLst/>
          </a:prstGeom>
          <a:noFill/>
          <a:ln/>
        </p:spPr>
        <p:txBody>
          <a:bodyPr wrap="square" lIns="0" tIns="0" rIns="0" bIns="0" rtlCol="0" anchor="ctr"/>
          <a:lstStyle/>
          <a:p>
            <a:pPr marL="0" indent="0">
              <a:buNone/>
            </a:pPr>
            <a:r>
              <a:rPr lang="en-US" sz="1600" i="1" dirty="0">
                <a:solidFill>
                  <a:srgbClr val="FFFFFF"/>
                </a:solidFill>
                <a:latin typeface="Cormorant Garamond" pitchFamily="34" charset="0"/>
                <a:ea typeface="Cormorant Garamond" pitchFamily="34" charset="-122"/>
                <a:cs typeface="Cormorant Garamond" pitchFamily="34" charset="-120"/>
              </a:rPr>
              <a:t>BG/NBD  +  Gamma-Gamma  ·  12 meses</a:t>
            </a:r>
            <a:endParaRPr lang="en-US" sz="1600" dirty="0"/>
          </a:p>
        </p:txBody>
      </p:sp>
      <p:sp>
        <p:nvSpPr>
          <p:cNvPr id="15" name="Text 13"/>
          <p:cNvSpPr/>
          <p:nvPr/>
        </p:nvSpPr>
        <p:spPr>
          <a:xfrm>
            <a:off x="6720840" y="3520440"/>
            <a:ext cx="4754880" cy="502920"/>
          </a:xfrm>
          <a:prstGeom prst="rect">
            <a:avLst/>
          </a:prstGeom>
          <a:noFill/>
          <a:ln/>
        </p:spPr>
        <p:txBody>
          <a:bodyPr wrap="square" lIns="0" tIns="0" rIns="0" bIns="0" rtlCol="0" anchor="ctr"/>
          <a:lstStyle/>
          <a:p>
            <a:pPr marL="0" indent="0">
              <a:spcAft>
                <a:spcPts val="400"/>
              </a:spcAft>
              <a:buNone/>
            </a:pPr>
            <a:r>
              <a:rPr lang="en-US" sz="1200" dirty="0" err="1">
                <a:solidFill>
                  <a:srgbClr val="EFE9DF"/>
                </a:solidFill>
                <a:latin typeface="Inter" pitchFamily="34" charset="0"/>
                <a:ea typeface="Inter" pitchFamily="34" charset="-122"/>
                <a:cs typeface="Inter" pitchFamily="34" charset="-120"/>
              </a:rPr>
              <a:t>Responde</a:t>
            </a:r>
            <a:r>
              <a:rPr lang="en-US" sz="1200" dirty="0">
                <a:solidFill>
                  <a:srgbClr val="EFE9DF"/>
                </a:solidFill>
                <a:latin typeface="Inter" pitchFamily="34" charset="0"/>
                <a:ea typeface="Inter" pitchFamily="34" charset="-122"/>
                <a:cs typeface="Inter" pitchFamily="34" charset="-120"/>
              </a:rPr>
              <a:t>: ¿cuánto puede aportar en el futuro?</a:t>
            </a:r>
            <a:endParaRPr lang="en-US" sz="1200" dirty="0"/>
          </a:p>
        </p:txBody>
      </p:sp>
      <p:sp>
        <p:nvSpPr>
          <p:cNvPr id="16" name="Text 14"/>
          <p:cNvSpPr/>
          <p:nvPr/>
        </p:nvSpPr>
        <p:spPr>
          <a:xfrm>
            <a:off x="6720840" y="4114800"/>
            <a:ext cx="4754880" cy="274320"/>
          </a:xfrm>
          <a:prstGeom prst="rect">
            <a:avLst/>
          </a:prstGeom>
          <a:noFill/>
          <a:ln/>
        </p:spPr>
        <p:txBody>
          <a:bodyPr wrap="square" lIns="0" tIns="0" rIns="0" bIns="0" rtlCol="0" anchor="ctr"/>
          <a:lstStyle/>
          <a:p>
            <a:pPr marL="0" indent="0">
              <a:buNone/>
            </a:pPr>
            <a:r>
              <a:rPr lang="en-US" sz="900" i="1" dirty="0">
                <a:solidFill>
                  <a:srgbClr val="EFE9DF"/>
                </a:solidFill>
                <a:latin typeface="Inter" pitchFamily="34" charset="0"/>
                <a:ea typeface="Inter" pitchFamily="34" charset="-122"/>
                <a:cs typeface="Inter" pitchFamily="34" charset="-120"/>
              </a:rPr>
              <a:t>Supuesto · independencia frecuencia / valor monetario (validado con correlación de Pearson).</a:t>
            </a:r>
            <a:endParaRPr lang="en-US" sz="900" dirty="0"/>
          </a:p>
        </p:txBody>
      </p:sp>
      <p:sp>
        <p:nvSpPr>
          <p:cNvPr id="17" name="Shape 15"/>
          <p:cNvSpPr/>
          <p:nvPr/>
        </p:nvSpPr>
        <p:spPr>
          <a:xfrm>
            <a:off x="548640" y="4709160"/>
            <a:ext cx="11064240" cy="1691640"/>
          </a:xfrm>
          <a:prstGeom prst="rect">
            <a:avLst/>
          </a:prstGeom>
          <a:solidFill>
            <a:srgbClr val="F8F5EF"/>
          </a:solidFill>
          <a:ln w="10160">
            <a:solidFill>
              <a:srgbClr val="5C4A2F"/>
            </a:solidFill>
            <a:prstDash val="solid"/>
          </a:ln>
        </p:spPr>
        <p:txBody>
          <a:bodyPr/>
          <a:lstStyle/>
          <a:p>
            <a:endParaRPr lang="es-ES"/>
          </a:p>
        </p:txBody>
      </p:sp>
      <p:sp>
        <p:nvSpPr>
          <p:cNvPr id="18" name="Text 16"/>
          <p:cNvSpPr/>
          <p:nvPr/>
        </p:nvSpPr>
        <p:spPr>
          <a:xfrm>
            <a:off x="868680" y="4800600"/>
            <a:ext cx="2743200" cy="274320"/>
          </a:xfrm>
          <a:prstGeom prst="rect">
            <a:avLst/>
          </a:prstGeom>
          <a:noFill/>
          <a:ln/>
        </p:spPr>
        <p:txBody>
          <a:bodyPr wrap="square" lIns="0" tIns="0" rIns="0" bIns="0" rtlCol="0" anchor="ctr"/>
          <a:lstStyle/>
          <a:p>
            <a:pPr marL="0" indent="0">
              <a:buNone/>
            </a:pPr>
            <a:r>
              <a:rPr lang="en-US" sz="900" kern="0" spc="500" dirty="0">
                <a:solidFill>
                  <a:srgbClr val="8A7253"/>
                </a:solidFill>
                <a:latin typeface="Inter" pitchFamily="34" charset="0"/>
                <a:ea typeface="Inter" pitchFamily="34" charset="-122"/>
                <a:cs typeface="Inter" pitchFamily="34" charset="-120"/>
              </a:rPr>
              <a:t>HALLAZGO</a:t>
            </a:r>
            <a:endParaRPr lang="en-US" sz="900" dirty="0"/>
          </a:p>
        </p:txBody>
      </p:sp>
      <p:sp>
        <p:nvSpPr>
          <p:cNvPr id="19" name="Text 17"/>
          <p:cNvSpPr/>
          <p:nvPr/>
        </p:nvSpPr>
        <p:spPr>
          <a:xfrm>
            <a:off x="640080" y="4983480"/>
            <a:ext cx="4572000" cy="868680"/>
          </a:xfrm>
          <a:prstGeom prst="rect">
            <a:avLst/>
          </a:prstGeom>
          <a:noFill/>
          <a:ln/>
        </p:spPr>
        <p:txBody>
          <a:bodyPr wrap="square" lIns="0" tIns="0" rIns="0" bIns="0" rtlCol="0" anchor="ctr"/>
          <a:lstStyle/>
          <a:p>
            <a:pPr marL="0" indent="0">
              <a:buNone/>
            </a:pPr>
            <a:r>
              <a:rPr lang="en-US" sz="7200" b="1" i="1" dirty="0">
                <a:solidFill>
                  <a:srgbClr val="6F8F5E"/>
                </a:solidFill>
                <a:latin typeface="Cormorant Garamond" pitchFamily="34" charset="0"/>
                <a:ea typeface="Cormorant Garamond" pitchFamily="34" charset="-122"/>
                <a:cs typeface="Cormorant Garamond" pitchFamily="34" charset="-120"/>
              </a:rPr>
              <a:t>99,6 %</a:t>
            </a:r>
            <a:endParaRPr lang="en-US" sz="7200" dirty="0"/>
          </a:p>
        </p:txBody>
      </p:sp>
      <p:sp>
        <p:nvSpPr>
          <p:cNvPr id="20" name="Text 18"/>
          <p:cNvSpPr/>
          <p:nvPr/>
        </p:nvSpPr>
        <p:spPr>
          <a:xfrm>
            <a:off x="868680" y="5943600"/>
            <a:ext cx="5029200" cy="274320"/>
          </a:xfrm>
          <a:prstGeom prst="rect">
            <a:avLst/>
          </a:prstGeom>
          <a:noFill/>
          <a:ln/>
        </p:spPr>
        <p:txBody>
          <a:bodyPr wrap="square" lIns="0" tIns="0" rIns="0" bIns="0" rtlCol="0" anchor="ctr"/>
          <a:lstStyle/>
          <a:p>
            <a:pPr marL="0" indent="0">
              <a:buNone/>
            </a:pPr>
            <a:r>
              <a:rPr lang="en-US" sz="1400" i="1" dirty="0">
                <a:solidFill>
                  <a:srgbClr val="5C4A2F"/>
                </a:solidFill>
                <a:latin typeface="Cormorant Garamond" pitchFamily="34" charset="0"/>
                <a:ea typeface="Cormorant Garamond" pitchFamily="34" charset="-122"/>
                <a:cs typeface="Cormorant Garamond" pitchFamily="34" charset="-120"/>
              </a:rPr>
              <a:t>del CLTV se concentra en el 12,9 % de los clientes</a:t>
            </a:r>
            <a:endParaRPr lang="en-US" sz="1400" dirty="0"/>
          </a:p>
        </p:txBody>
      </p:sp>
      <p:sp>
        <p:nvSpPr>
          <p:cNvPr id="21" name="Text 19"/>
          <p:cNvSpPr/>
          <p:nvPr/>
        </p:nvSpPr>
        <p:spPr>
          <a:xfrm>
            <a:off x="868680" y="6199632"/>
            <a:ext cx="5029200" cy="201168"/>
          </a:xfrm>
          <a:prstGeom prst="rect">
            <a:avLst/>
          </a:prstGeom>
          <a:noFill/>
          <a:ln/>
        </p:spPr>
        <p:txBody>
          <a:bodyPr wrap="square" lIns="0" tIns="0" rIns="0" bIns="0" rtlCol="0" anchor="ctr"/>
          <a:lstStyle/>
          <a:p>
            <a:pPr marL="0" indent="0">
              <a:buNone/>
            </a:pPr>
            <a:r>
              <a:rPr lang="en-US" sz="1000" i="1" dirty="0">
                <a:solidFill>
                  <a:srgbClr val="6B5A45"/>
                </a:solidFill>
                <a:latin typeface="Inter" pitchFamily="34" charset="0"/>
                <a:ea typeface="Inter" pitchFamily="34" charset="-122"/>
                <a:cs typeface="Inter" pitchFamily="34" charset="-120"/>
              </a:rPr>
              <a:t>742 Champions · 1,33 M € sobre 1,34 M € totales</a:t>
            </a:r>
            <a:endParaRPr lang="en-US" sz="1000" dirty="0"/>
          </a:p>
        </p:txBody>
      </p:sp>
      <p:sp>
        <p:nvSpPr>
          <p:cNvPr id="22" name="Text 20"/>
          <p:cNvSpPr/>
          <p:nvPr/>
        </p:nvSpPr>
        <p:spPr>
          <a:xfrm>
            <a:off x="5897880" y="4800600"/>
            <a:ext cx="5760720" cy="256032"/>
          </a:xfrm>
          <a:prstGeom prst="rect">
            <a:avLst/>
          </a:prstGeom>
          <a:noFill/>
          <a:ln/>
        </p:spPr>
        <p:txBody>
          <a:bodyPr wrap="square" lIns="0" tIns="0" rIns="0" bIns="0" rtlCol="0" anchor="ctr"/>
          <a:lstStyle/>
          <a:p>
            <a:pPr marL="0" indent="0">
              <a:buNone/>
            </a:pPr>
            <a:r>
              <a:rPr lang="en-US" sz="900" kern="0" spc="500" dirty="0">
                <a:solidFill>
                  <a:srgbClr val="8A7253"/>
                </a:solidFill>
                <a:latin typeface="Inter" pitchFamily="34" charset="0"/>
                <a:ea typeface="Inter" pitchFamily="34" charset="-122"/>
                <a:cs typeface="Inter" pitchFamily="34" charset="-120"/>
              </a:rPr>
              <a:t>CURVA DE PARETO · % DEL CLTV ACUMULADO</a:t>
            </a:r>
            <a:endParaRPr lang="en-US" sz="900" dirty="0"/>
          </a:p>
        </p:txBody>
      </p:sp>
      <p:graphicFrame>
        <p:nvGraphicFramePr>
          <p:cNvPr id="23" name="Chart 0"/>
          <p:cNvGraphicFramePr/>
          <p:nvPr/>
        </p:nvGraphicFramePr>
        <p:xfrm>
          <a:off x="5806440" y="5074920"/>
          <a:ext cx="5852160" cy="1325880"/>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 21"/>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5A45"/>
                </a:solidFill>
                <a:latin typeface="Inter" pitchFamily="34" charset="0"/>
                <a:ea typeface="Inter" pitchFamily="34" charset="-122"/>
                <a:cs typeface="Inter" pitchFamily="34" charset="-120"/>
              </a:rPr>
              <a:t>Saleshealth · CLTV   ·   Judith Salas · UAX 2025/26</a:t>
            </a:r>
            <a:endParaRPr lang="en-US" sz="900" dirty="0"/>
          </a:p>
        </p:txBody>
      </p:sp>
      <p:sp>
        <p:nvSpPr>
          <p:cNvPr id="25" name="Text 22"/>
          <p:cNvSpPr/>
          <p:nvPr/>
        </p:nvSpPr>
        <p:spPr>
          <a:xfrm>
            <a:off x="10881360" y="6473952"/>
            <a:ext cx="731520" cy="274320"/>
          </a:xfrm>
          <a:prstGeom prst="rect">
            <a:avLst/>
          </a:prstGeom>
          <a:noFill/>
          <a:ln/>
        </p:spPr>
        <p:txBody>
          <a:bodyPr wrap="square" lIns="0" tIns="0" rIns="0" bIns="0" rtlCol="0" anchor="ctr"/>
          <a:lstStyle/>
          <a:p>
            <a:pPr marL="0" indent="0" algn="r">
              <a:buNone/>
            </a:pPr>
            <a:r>
              <a:rPr lang="en-US" sz="900" dirty="0">
                <a:solidFill>
                  <a:srgbClr val="6B5A45"/>
                </a:solidFill>
                <a:latin typeface="Inter" pitchFamily="34" charset="0"/>
                <a:ea typeface="Inter" pitchFamily="34" charset="-122"/>
                <a:cs typeface="Inter" pitchFamily="34" charset="-120"/>
              </a:rPr>
              <a:t>3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F"/>
        </a:solidFill>
        <a:effectLst/>
      </p:bgPr>
    </p:bg>
    <p:spTree>
      <p:nvGrpSpPr>
        <p:cNvPr id="1" name=""/>
        <p:cNvGrpSpPr/>
        <p:nvPr/>
      </p:nvGrpSpPr>
      <p:grpSpPr>
        <a:xfrm>
          <a:off x="0" y="0"/>
          <a:ext cx="0" cy="0"/>
          <a:chOff x="0" y="0"/>
          <a:chExt cx="0" cy="0"/>
        </a:xfrm>
      </p:grpSpPr>
      <p:sp>
        <p:nvSpPr>
          <p:cNvPr id="2" name="Text 0"/>
          <p:cNvSpPr/>
          <p:nvPr/>
        </p:nvSpPr>
        <p:spPr>
          <a:xfrm>
            <a:off x="548640" y="201168"/>
            <a:ext cx="10972800" cy="274320"/>
          </a:xfrm>
          <a:prstGeom prst="rect">
            <a:avLst/>
          </a:prstGeom>
          <a:noFill/>
          <a:ln/>
        </p:spPr>
        <p:txBody>
          <a:bodyPr wrap="square" lIns="0" tIns="0" rIns="0" bIns="0" rtlCol="0" anchor="ctr"/>
          <a:lstStyle/>
          <a:p>
            <a:pPr marL="0" indent="0">
              <a:buNone/>
            </a:pPr>
            <a:r>
              <a:rPr lang="en-US" sz="950" kern="0" spc="600" dirty="0">
                <a:solidFill>
                  <a:srgbClr val="6B5A45"/>
                </a:solidFill>
                <a:latin typeface="Inter" pitchFamily="34" charset="0"/>
                <a:ea typeface="Inter" pitchFamily="34" charset="-122"/>
                <a:cs typeface="Inter" pitchFamily="34" charset="-120"/>
              </a:rPr>
              <a:t>CAPÍTULO 3 · SEGMENTACIÓN K-MEANS</a:t>
            </a:r>
            <a:endParaRPr lang="en-US" sz="950" dirty="0"/>
          </a:p>
        </p:txBody>
      </p:sp>
      <p:sp>
        <p:nvSpPr>
          <p:cNvPr id="3" name="Text 1"/>
          <p:cNvSpPr/>
          <p:nvPr/>
        </p:nvSpPr>
        <p:spPr>
          <a:xfrm>
            <a:off x="548640" y="502920"/>
            <a:ext cx="10972800" cy="548640"/>
          </a:xfrm>
          <a:prstGeom prst="rect">
            <a:avLst/>
          </a:prstGeom>
          <a:noFill/>
          <a:ln/>
        </p:spPr>
        <p:txBody>
          <a:bodyPr wrap="square" lIns="0" tIns="0" rIns="0" bIns="0" rtlCol="0" anchor="ctr"/>
          <a:lstStyle/>
          <a:p>
            <a:pPr marL="0" indent="0">
              <a:buNone/>
            </a:pPr>
            <a:r>
              <a:rPr lang="en-US" sz="3000" i="1" dirty="0">
                <a:solidFill>
                  <a:srgbClr val="5C4A2F"/>
                </a:solidFill>
                <a:latin typeface="Cormorant Garamond" pitchFamily="34" charset="0"/>
                <a:ea typeface="Cormorant Garamond" pitchFamily="34" charset="-122"/>
                <a:cs typeface="Cormorant Garamond" pitchFamily="34" charset="-120"/>
              </a:rPr>
              <a:t>Tres métricas independientes,</a:t>
            </a:r>
            <a:endParaRPr lang="en-US" sz="3000" dirty="0"/>
          </a:p>
        </p:txBody>
      </p:sp>
      <p:sp>
        <p:nvSpPr>
          <p:cNvPr id="4" name="Text 2"/>
          <p:cNvSpPr/>
          <p:nvPr/>
        </p:nvSpPr>
        <p:spPr>
          <a:xfrm>
            <a:off x="548640" y="960120"/>
            <a:ext cx="10972800" cy="548640"/>
          </a:xfrm>
          <a:prstGeom prst="rect">
            <a:avLst/>
          </a:prstGeom>
          <a:noFill/>
          <a:ln/>
        </p:spPr>
        <p:txBody>
          <a:bodyPr wrap="square" lIns="0" tIns="0" rIns="0" bIns="0" rtlCol="0" anchor="ctr"/>
          <a:lstStyle/>
          <a:p>
            <a:pPr marL="0" indent="0">
              <a:buNone/>
            </a:pPr>
            <a:r>
              <a:rPr lang="en-US" sz="3000" i="1" dirty="0">
                <a:solidFill>
                  <a:srgbClr val="5C4A2F"/>
                </a:solidFill>
                <a:latin typeface="Cormorant Garamond" pitchFamily="34" charset="0"/>
                <a:ea typeface="Cormorant Garamond" pitchFamily="34" charset="-122"/>
                <a:cs typeface="Cormorant Garamond" pitchFamily="34" charset="-120"/>
              </a:rPr>
              <a:t>una misma respuesta: K = 2</a:t>
            </a:r>
            <a:endParaRPr lang="en-US" sz="3000" dirty="0"/>
          </a:p>
        </p:txBody>
      </p:sp>
      <p:sp>
        <p:nvSpPr>
          <p:cNvPr id="5" name="Shape 3"/>
          <p:cNvSpPr/>
          <p:nvPr/>
        </p:nvSpPr>
        <p:spPr>
          <a:xfrm>
            <a:off x="548640" y="1828800"/>
            <a:ext cx="6583680" cy="3246120"/>
          </a:xfrm>
          <a:prstGeom prst="rect">
            <a:avLst/>
          </a:prstGeom>
          <a:solidFill>
            <a:srgbClr val="EFE9DF"/>
          </a:solidFill>
          <a:ln/>
        </p:spPr>
        <p:txBody>
          <a:bodyPr/>
          <a:lstStyle/>
          <a:p>
            <a:endParaRPr lang="es-ES"/>
          </a:p>
        </p:txBody>
      </p:sp>
      <p:sp>
        <p:nvSpPr>
          <p:cNvPr id="6" name="Text 4"/>
          <p:cNvSpPr/>
          <p:nvPr/>
        </p:nvSpPr>
        <p:spPr>
          <a:xfrm>
            <a:off x="822960" y="2011680"/>
            <a:ext cx="6035040" cy="274320"/>
          </a:xfrm>
          <a:prstGeom prst="rect">
            <a:avLst/>
          </a:prstGeom>
          <a:noFill/>
          <a:ln/>
        </p:spPr>
        <p:txBody>
          <a:bodyPr wrap="square" lIns="0" tIns="0" rIns="0" bIns="0" rtlCol="0" anchor="ctr"/>
          <a:lstStyle/>
          <a:p>
            <a:pPr marL="0" indent="0">
              <a:buNone/>
            </a:pPr>
            <a:r>
              <a:rPr lang="en-US" sz="900" kern="0" spc="500" dirty="0">
                <a:solidFill>
                  <a:srgbClr val="8A7253"/>
                </a:solidFill>
                <a:latin typeface="Inter" pitchFamily="34" charset="0"/>
                <a:ea typeface="Inter" pitchFamily="34" charset="-122"/>
                <a:cs typeface="Inter" pitchFamily="34" charset="-120"/>
              </a:rPr>
              <a:t>MÉTRICAS DE VALIDACIÓN POR K</a:t>
            </a:r>
            <a:endParaRPr lang="en-US" sz="900" dirty="0"/>
          </a:p>
        </p:txBody>
      </p:sp>
      <p:graphicFrame>
        <p:nvGraphicFramePr>
          <p:cNvPr id="7" name="Chart 0"/>
          <p:cNvGraphicFramePr/>
          <p:nvPr/>
        </p:nvGraphicFramePr>
        <p:xfrm>
          <a:off x="822960" y="2331720"/>
          <a:ext cx="603504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360920" y="1828800"/>
            <a:ext cx="4251960" cy="1417320"/>
          </a:xfrm>
          <a:prstGeom prst="rect">
            <a:avLst/>
          </a:prstGeom>
          <a:solidFill>
            <a:srgbClr val="5C4A2F"/>
          </a:solidFill>
          <a:ln/>
        </p:spPr>
        <p:txBody>
          <a:bodyPr/>
          <a:lstStyle/>
          <a:p>
            <a:endParaRPr lang="es-ES"/>
          </a:p>
        </p:txBody>
      </p:sp>
      <p:sp>
        <p:nvSpPr>
          <p:cNvPr id="9" name="Text 6"/>
          <p:cNvSpPr/>
          <p:nvPr/>
        </p:nvSpPr>
        <p:spPr>
          <a:xfrm>
            <a:off x="7635240" y="2011680"/>
            <a:ext cx="4572000" cy="274320"/>
          </a:xfrm>
          <a:prstGeom prst="rect">
            <a:avLst/>
          </a:prstGeom>
          <a:noFill/>
          <a:ln/>
        </p:spPr>
        <p:txBody>
          <a:bodyPr wrap="square" lIns="0" tIns="0" rIns="0" bIns="0" rtlCol="0" anchor="ctr"/>
          <a:lstStyle/>
          <a:p>
            <a:pPr marL="0" indent="0">
              <a:buNone/>
            </a:pPr>
            <a:r>
              <a:rPr lang="en-US" sz="900" kern="0" spc="500" dirty="0">
                <a:solidFill>
                  <a:srgbClr val="EFE9DF"/>
                </a:solidFill>
                <a:latin typeface="Inter" pitchFamily="34" charset="0"/>
                <a:ea typeface="Inter" pitchFamily="34" charset="-122"/>
                <a:cs typeface="Inter" pitchFamily="34" charset="-120"/>
              </a:rPr>
              <a:t>COEF. DE SILUETA · K=2</a:t>
            </a:r>
            <a:endParaRPr lang="en-US" sz="900" dirty="0"/>
          </a:p>
        </p:txBody>
      </p:sp>
      <p:sp>
        <p:nvSpPr>
          <p:cNvPr id="10" name="Text 7"/>
          <p:cNvSpPr/>
          <p:nvPr/>
        </p:nvSpPr>
        <p:spPr>
          <a:xfrm>
            <a:off x="7589520" y="2286000"/>
            <a:ext cx="4114800" cy="868680"/>
          </a:xfrm>
          <a:prstGeom prst="rect">
            <a:avLst/>
          </a:prstGeom>
          <a:noFill/>
          <a:ln/>
        </p:spPr>
        <p:txBody>
          <a:bodyPr wrap="square" lIns="0" tIns="0" rIns="0" bIns="0" rtlCol="0" anchor="ctr"/>
          <a:lstStyle/>
          <a:p>
            <a:pPr marL="0" indent="0">
              <a:buNone/>
            </a:pPr>
            <a:r>
              <a:rPr lang="en-US" sz="6000" b="1" i="1" dirty="0">
                <a:solidFill>
                  <a:srgbClr val="FFFFFF"/>
                </a:solidFill>
                <a:latin typeface="Cormorant Garamond" pitchFamily="34" charset="0"/>
                <a:ea typeface="Cormorant Garamond" pitchFamily="34" charset="-122"/>
                <a:cs typeface="Cormorant Garamond" pitchFamily="34" charset="-120"/>
              </a:rPr>
              <a:t>0,838</a:t>
            </a:r>
            <a:endParaRPr lang="en-US" sz="6000" dirty="0"/>
          </a:p>
        </p:txBody>
      </p:sp>
      <p:sp>
        <p:nvSpPr>
          <p:cNvPr id="11" name="Shape 8"/>
          <p:cNvSpPr/>
          <p:nvPr/>
        </p:nvSpPr>
        <p:spPr>
          <a:xfrm>
            <a:off x="7360920" y="3383280"/>
            <a:ext cx="4251960" cy="1691640"/>
          </a:xfrm>
          <a:prstGeom prst="rect">
            <a:avLst/>
          </a:prstGeom>
          <a:solidFill>
            <a:srgbClr val="EFE9DF"/>
          </a:solidFill>
          <a:ln/>
        </p:spPr>
        <p:txBody>
          <a:bodyPr/>
          <a:lstStyle/>
          <a:p>
            <a:endParaRPr lang="es-ES"/>
          </a:p>
        </p:txBody>
      </p:sp>
      <p:sp>
        <p:nvSpPr>
          <p:cNvPr id="12" name="Text 9"/>
          <p:cNvSpPr/>
          <p:nvPr/>
        </p:nvSpPr>
        <p:spPr>
          <a:xfrm>
            <a:off x="7635240" y="3520440"/>
            <a:ext cx="4572000" cy="274320"/>
          </a:xfrm>
          <a:prstGeom prst="rect">
            <a:avLst/>
          </a:prstGeom>
          <a:noFill/>
          <a:ln/>
        </p:spPr>
        <p:txBody>
          <a:bodyPr wrap="square" lIns="0" tIns="0" rIns="0" bIns="0" rtlCol="0" anchor="ctr"/>
          <a:lstStyle/>
          <a:p>
            <a:pPr marL="0" indent="0">
              <a:buNone/>
            </a:pPr>
            <a:r>
              <a:rPr lang="en-US" sz="900" kern="0" spc="500" dirty="0">
                <a:solidFill>
                  <a:srgbClr val="8A7253"/>
                </a:solidFill>
                <a:latin typeface="Inter" pitchFamily="34" charset="0"/>
                <a:ea typeface="Inter" pitchFamily="34" charset="-122"/>
                <a:cs typeface="Inter" pitchFamily="34" charset="-120"/>
              </a:rPr>
              <a:t>CLIENTES VS. CLTV PROYECTADO</a:t>
            </a:r>
            <a:endParaRPr lang="en-US" sz="900" dirty="0"/>
          </a:p>
        </p:txBody>
      </p:sp>
      <p:graphicFrame>
        <p:nvGraphicFramePr>
          <p:cNvPr id="13" name="Chart 1"/>
          <p:cNvGraphicFramePr/>
          <p:nvPr/>
        </p:nvGraphicFramePr>
        <p:xfrm>
          <a:off x="7498080" y="3794760"/>
          <a:ext cx="3977640" cy="123444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548640" y="5349240"/>
            <a:ext cx="11064240" cy="685800"/>
          </a:xfrm>
          <a:prstGeom prst="rect">
            <a:avLst/>
          </a:prstGeom>
          <a:solidFill>
            <a:srgbClr val="5C4A2F"/>
          </a:solidFill>
          <a:ln/>
        </p:spPr>
        <p:txBody>
          <a:bodyPr/>
          <a:lstStyle/>
          <a:p>
            <a:endParaRPr lang="es-ES"/>
          </a:p>
        </p:txBody>
      </p:sp>
      <p:sp>
        <p:nvSpPr>
          <p:cNvPr id="15" name="Text 11"/>
          <p:cNvSpPr/>
          <p:nvPr/>
        </p:nvSpPr>
        <p:spPr>
          <a:xfrm>
            <a:off x="868680" y="5440680"/>
            <a:ext cx="10424160" cy="502920"/>
          </a:xfrm>
          <a:prstGeom prst="rect">
            <a:avLst/>
          </a:prstGeom>
          <a:noFill/>
          <a:ln/>
        </p:spPr>
        <p:txBody>
          <a:bodyPr wrap="square" lIns="0" tIns="0" rIns="0" bIns="0" rtlCol="0" anchor="ctr"/>
          <a:lstStyle/>
          <a:p>
            <a:pPr marL="0" indent="0">
              <a:buNone/>
            </a:pPr>
            <a:r>
              <a:rPr lang="en-US" sz="1300" kern="0" spc="400" dirty="0">
                <a:solidFill>
                  <a:srgbClr val="FFFFFF"/>
                </a:solidFill>
                <a:latin typeface="Inter" pitchFamily="34" charset="0"/>
                <a:ea typeface="Inter" pitchFamily="34" charset="-122"/>
                <a:cs typeface="Inter" pitchFamily="34" charset="-120"/>
              </a:rPr>
              <a:t>→  DEMO EN VIVO  ·  HOME · SEGMENTATION · CUSTOMER DETAIL · STORES MAP</a:t>
            </a:r>
            <a:endParaRPr lang="en-US" sz="1300" dirty="0"/>
          </a:p>
        </p:txBody>
      </p:sp>
      <p:sp>
        <p:nvSpPr>
          <p:cNvPr id="16" name="Text 1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5A45"/>
                </a:solidFill>
                <a:latin typeface="Inter" pitchFamily="34" charset="0"/>
                <a:ea typeface="Inter" pitchFamily="34" charset="-122"/>
                <a:cs typeface="Inter" pitchFamily="34" charset="-120"/>
              </a:rPr>
              <a:t>Saleshealth · CLTV   ·   Judith Salas · UAX 2025/26</a:t>
            </a:r>
            <a:endParaRPr lang="en-US" sz="900" dirty="0"/>
          </a:p>
        </p:txBody>
      </p:sp>
      <p:sp>
        <p:nvSpPr>
          <p:cNvPr id="17" name="Text 13"/>
          <p:cNvSpPr/>
          <p:nvPr/>
        </p:nvSpPr>
        <p:spPr>
          <a:xfrm>
            <a:off x="10881360" y="6473952"/>
            <a:ext cx="731520" cy="274320"/>
          </a:xfrm>
          <a:prstGeom prst="rect">
            <a:avLst/>
          </a:prstGeom>
          <a:noFill/>
          <a:ln/>
        </p:spPr>
        <p:txBody>
          <a:bodyPr wrap="square" lIns="0" tIns="0" rIns="0" bIns="0" rtlCol="0" anchor="ctr"/>
          <a:lstStyle/>
          <a:p>
            <a:pPr marL="0" indent="0" algn="r">
              <a:buNone/>
            </a:pPr>
            <a:r>
              <a:rPr lang="en-US" sz="900" dirty="0">
                <a:solidFill>
                  <a:srgbClr val="6B5A45"/>
                </a:solidFill>
                <a:latin typeface="Inter" pitchFamily="34" charset="0"/>
                <a:ea typeface="Inter" pitchFamily="34" charset="-122"/>
                <a:cs typeface="Inter" pitchFamily="34" charset="-120"/>
              </a:rPr>
              <a:t>4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5C4A2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950" kern="0" spc="600" dirty="0">
                <a:solidFill>
                  <a:srgbClr val="EFE9DF"/>
                </a:solidFill>
                <a:latin typeface="Inter" pitchFamily="34" charset="0"/>
                <a:ea typeface="Inter" pitchFamily="34" charset="-122"/>
                <a:cs typeface="Inter" pitchFamily="34" charset="-120"/>
              </a:rPr>
              <a:t>CAPÍTULO 4 · CIERRE</a:t>
            </a:r>
            <a:endParaRPr lang="en-US" sz="950" dirty="0"/>
          </a:p>
        </p:txBody>
      </p:sp>
      <p:sp>
        <p:nvSpPr>
          <p:cNvPr id="3" name="Text 1"/>
          <p:cNvSpPr/>
          <p:nvPr/>
        </p:nvSpPr>
        <p:spPr>
          <a:xfrm>
            <a:off x="548640" y="777240"/>
            <a:ext cx="10972800" cy="640080"/>
          </a:xfrm>
          <a:prstGeom prst="rect">
            <a:avLst/>
          </a:prstGeom>
          <a:noFill/>
          <a:ln/>
        </p:spPr>
        <p:txBody>
          <a:bodyPr wrap="square" lIns="0" tIns="0" rIns="0" bIns="0" rtlCol="0" anchor="ctr"/>
          <a:lstStyle/>
          <a:p>
            <a:pPr marL="0" indent="0">
              <a:buNone/>
            </a:pPr>
            <a:r>
              <a:rPr lang="en-US" sz="3200" i="1" dirty="0">
                <a:solidFill>
                  <a:srgbClr val="FFFFFF"/>
                </a:solidFill>
                <a:latin typeface="Cormorant Garamond" pitchFamily="34" charset="0"/>
                <a:ea typeface="Cormorant Garamond" pitchFamily="34" charset="-122"/>
                <a:cs typeface="Cormorant Garamond" pitchFamily="34" charset="-120"/>
              </a:rPr>
              <a:t>Lo que el proyecto deja sobre la mesa</a:t>
            </a:r>
            <a:endParaRPr lang="en-US" sz="3200" dirty="0"/>
          </a:p>
        </p:txBody>
      </p:sp>
      <p:sp>
        <p:nvSpPr>
          <p:cNvPr id="4" name="Shape 2"/>
          <p:cNvSpPr/>
          <p:nvPr/>
        </p:nvSpPr>
        <p:spPr>
          <a:xfrm>
            <a:off x="434340" y="2011680"/>
            <a:ext cx="3611880" cy="2240280"/>
          </a:xfrm>
          <a:prstGeom prst="rect">
            <a:avLst/>
          </a:prstGeom>
          <a:solidFill>
            <a:srgbClr val="F8F5EF"/>
          </a:solidFill>
          <a:ln/>
        </p:spPr>
        <p:txBody>
          <a:bodyPr/>
          <a:lstStyle/>
          <a:p>
            <a:endParaRPr lang="es-ES"/>
          </a:p>
        </p:txBody>
      </p:sp>
      <p:sp>
        <p:nvSpPr>
          <p:cNvPr id="5" name="Text 3"/>
          <p:cNvSpPr/>
          <p:nvPr/>
        </p:nvSpPr>
        <p:spPr>
          <a:xfrm>
            <a:off x="708660" y="2194560"/>
            <a:ext cx="914400" cy="457200"/>
          </a:xfrm>
          <a:prstGeom prst="rect">
            <a:avLst/>
          </a:prstGeom>
          <a:noFill/>
          <a:ln/>
        </p:spPr>
        <p:txBody>
          <a:bodyPr wrap="square" lIns="0" tIns="0" rIns="0" bIns="0" rtlCol="0" anchor="ctr"/>
          <a:lstStyle/>
          <a:p>
            <a:pPr marL="0" indent="0">
              <a:buNone/>
            </a:pPr>
            <a:r>
              <a:rPr lang="en-US" sz="3800" b="1" i="1" dirty="0">
                <a:solidFill>
                  <a:srgbClr val="8A7253"/>
                </a:solidFill>
                <a:latin typeface="Cormorant Garamond" pitchFamily="34" charset="0"/>
                <a:ea typeface="Cormorant Garamond" pitchFamily="34" charset="-122"/>
                <a:cs typeface="Cormorant Garamond" pitchFamily="34" charset="-120"/>
              </a:rPr>
              <a:t>01</a:t>
            </a:r>
            <a:endParaRPr lang="en-US" sz="3800" dirty="0"/>
          </a:p>
        </p:txBody>
      </p:sp>
      <p:sp>
        <p:nvSpPr>
          <p:cNvPr id="6" name="Shape 4"/>
          <p:cNvSpPr/>
          <p:nvPr/>
        </p:nvSpPr>
        <p:spPr>
          <a:xfrm>
            <a:off x="708660" y="2788920"/>
            <a:ext cx="548640" cy="0"/>
          </a:xfrm>
          <a:prstGeom prst="line">
            <a:avLst/>
          </a:prstGeom>
          <a:noFill/>
          <a:ln w="12700">
            <a:solidFill>
              <a:srgbClr val="5C4A2F"/>
            </a:solidFill>
            <a:prstDash val="solid"/>
          </a:ln>
        </p:spPr>
        <p:txBody>
          <a:bodyPr/>
          <a:lstStyle/>
          <a:p>
            <a:endParaRPr lang="es-ES"/>
          </a:p>
        </p:txBody>
      </p:sp>
      <p:sp>
        <p:nvSpPr>
          <p:cNvPr id="7" name="Text 5"/>
          <p:cNvSpPr/>
          <p:nvPr/>
        </p:nvSpPr>
        <p:spPr>
          <a:xfrm>
            <a:off x="708660" y="2880360"/>
            <a:ext cx="3154680" cy="594360"/>
          </a:xfrm>
          <a:prstGeom prst="rect">
            <a:avLst/>
          </a:prstGeom>
          <a:noFill/>
          <a:ln/>
        </p:spPr>
        <p:txBody>
          <a:bodyPr wrap="square" lIns="0" tIns="0" rIns="0" bIns="0" rtlCol="0" anchor="ctr"/>
          <a:lstStyle/>
          <a:p>
            <a:pPr marL="0" indent="0">
              <a:buNone/>
            </a:pPr>
            <a:r>
              <a:rPr lang="en-US" sz="1800" i="1" dirty="0">
                <a:solidFill>
                  <a:srgbClr val="5C4A2F"/>
                </a:solidFill>
                <a:latin typeface="Cormorant Garamond" pitchFamily="34" charset="0"/>
                <a:ea typeface="Cormorant Garamond" pitchFamily="34" charset="-122"/>
                <a:cs typeface="Cormorant Garamond" pitchFamily="34" charset="-120"/>
              </a:rPr>
              <a:t>Entregables cumplidos · y tres extensiones</a:t>
            </a:r>
            <a:endParaRPr lang="en-US" sz="1800" dirty="0"/>
          </a:p>
        </p:txBody>
      </p:sp>
      <p:sp>
        <p:nvSpPr>
          <p:cNvPr id="8" name="Text 6"/>
          <p:cNvSpPr/>
          <p:nvPr/>
        </p:nvSpPr>
        <p:spPr>
          <a:xfrm>
            <a:off x="708660" y="3566160"/>
            <a:ext cx="3154680" cy="640080"/>
          </a:xfrm>
          <a:prstGeom prst="rect">
            <a:avLst/>
          </a:prstGeom>
          <a:noFill/>
          <a:ln/>
        </p:spPr>
        <p:txBody>
          <a:bodyPr wrap="square" lIns="0" tIns="0" rIns="0" bIns="0" rtlCol="0" anchor="ctr"/>
          <a:lstStyle/>
          <a:p>
            <a:pPr marL="0" indent="0">
              <a:buNone/>
            </a:pPr>
            <a:r>
              <a:rPr lang="en-US" sz="1050" dirty="0">
                <a:solidFill>
                  <a:srgbClr val="2B2218"/>
                </a:solidFill>
                <a:latin typeface="Inter" pitchFamily="34" charset="0"/>
                <a:ea typeface="Inter" pitchFamily="34" charset="-122"/>
                <a:cs typeface="Inter" pitchFamily="34" charset="-120"/>
              </a:rPr>
              <a:t>CLTV probabilístico, triple validación de K y análisis geográfico de las 20 tiendas de Madrid.</a:t>
            </a:r>
            <a:endParaRPr lang="en-US" sz="1050" dirty="0"/>
          </a:p>
        </p:txBody>
      </p:sp>
      <p:sp>
        <p:nvSpPr>
          <p:cNvPr id="9" name="Shape 7"/>
          <p:cNvSpPr/>
          <p:nvPr/>
        </p:nvSpPr>
        <p:spPr>
          <a:xfrm>
            <a:off x="4274820" y="2011680"/>
            <a:ext cx="3611880" cy="2240280"/>
          </a:xfrm>
          <a:prstGeom prst="rect">
            <a:avLst/>
          </a:prstGeom>
          <a:solidFill>
            <a:srgbClr val="F8F5EF"/>
          </a:solidFill>
          <a:ln/>
        </p:spPr>
        <p:txBody>
          <a:bodyPr/>
          <a:lstStyle/>
          <a:p>
            <a:endParaRPr lang="es-ES"/>
          </a:p>
        </p:txBody>
      </p:sp>
      <p:sp>
        <p:nvSpPr>
          <p:cNvPr id="10" name="Text 8"/>
          <p:cNvSpPr/>
          <p:nvPr/>
        </p:nvSpPr>
        <p:spPr>
          <a:xfrm>
            <a:off x="4549140" y="2194560"/>
            <a:ext cx="914400" cy="457200"/>
          </a:xfrm>
          <a:prstGeom prst="rect">
            <a:avLst/>
          </a:prstGeom>
          <a:noFill/>
          <a:ln/>
        </p:spPr>
        <p:txBody>
          <a:bodyPr wrap="square" lIns="0" tIns="0" rIns="0" bIns="0" rtlCol="0" anchor="ctr"/>
          <a:lstStyle/>
          <a:p>
            <a:pPr marL="0" indent="0">
              <a:buNone/>
            </a:pPr>
            <a:r>
              <a:rPr lang="en-US" sz="3800" b="1" i="1" dirty="0">
                <a:solidFill>
                  <a:srgbClr val="8A7253"/>
                </a:solidFill>
                <a:latin typeface="Cormorant Garamond" pitchFamily="34" charset="0"/>
                <a:ea typeface="Cormorant Garamond" pitchFamily="34" charset="-122"/>
                <a:cs typeface="Cormorant Garamond" pitchFamily="34" charset="-120"/>
              </a:rPr>
              <a:t>02</a:t>
            </a:r>
            <a:endParaRPr lang="en-US" sz="3800" dirty="0"/>
          </a:p>
        </p:txBody>
      </p:sp>
      <p:sp>
        <p:nvSpPr>
          <p:cNvPr id="11" name="Shape 9"/>
          <p:cNvSpPr/>
          <p:nvPr/>
        </p:nvSpPr>
        <p:spPr>
          <a:xfrm>
            <a:off x="4549140" y="2788920"/>
            <a:ext cx="548640" cy="0"/>
          </a:xfrm>
          <a:prstGeom prst="line">
            <a:avLst/>
          </a:prstGeom>
          <a:noFill/>
          <a:ln w="12700">
            <a:solidFill>
              <a:srgbClr val="5C4A2F"/>
            </a:solidFill>
            <a:prstDash val="solid"/>
          </a:ln>
        </p:spPr>
        <p:txBody>
          <a:bodyPr/>
          <a:lstStyle/>
          <a:p>
            <a:endParaRPr lang="es-ES"/>
          </a:p>
        </p:txBody>
      </p:sp>
      <p:sp>
        <p:nvSpPr>
          <p:cNvPr id="12" name="Text 10"/>
          <p:cNvSpPr/>
          <p:nvPr/>
        </p:nvSpPr>
        <p:spPr>
          <a:xfrm>
            <a:off x="4549140" y="2880360"/>
            <a:ext cx="3154680" cy="594360"/>
          </a:xfrm>
          <a:prstGeom prst="rect">
            <a:avLst/>
          </a:prstGeom>
          <a:noFill/>
          <a:ln/>
        </p:spPr>
        <p:txBody>
          <a:bodyPr wrap="square" lIns="0" tIns="0" rIns="0" bIns="0" rtlCol="0" anchor="ctr"/>
          <a:lstStyle/>
          <a:p>
            <a:pPr marL="0" indent="0">
              <a:buNone/>
            </a:pPr>
            <a:r>
              <a:rPr lang="en-US" sz="1800" i="1" dirty="0">
                <a:solidFill>
                  <a:srgbClr val="5C4A2F"/>
                </a:solidFill>
                <a:latin typeface="Cormorant Garamond" pitchFamily="34" charset="0"/>
                <a:ea typeface="Cormorant Garamond" pitchFamily="34" charset="-122"/>
                <a:cs typeface="Cormorant Garamond" pitchFamily="34" charset="-120"/>
              </a:rPr>
              <a:t>El hallazgo es accionable</a:t>
            </a:r>
            <a:endParaRPr lang="en-US" sz="1800" dirty="0"/>
          </a:p>
        </p:txBody>
      </p:sp>
      <p:sp>
        <p:nvSpPr>
          <p:cNvPr id="13" name="Text 11"/>
          <p:cNvSpPr/>
          <p:nvPr/>
        </p:nvSpPr>
        <p:spPr>
          <a:xfrm>
            <a:off x="4549140" y="3566160"/>
            <a:ext cx="3154680" cy="640080"/>
          </a:xfrm>
          <a:prstGeom prst="rect">
            <a:avLst/>
          </a:prstGeom>
          <a:noFill/>
          <a:ln/>
        </p:spPr>
        <p:txBody>
          <a:bodyPr wrap="square" lIns="0" tIns="0" rIns="0" bIns="0" rtlCol="0" anchor="ctr"/>
          <a:lstStyle/>
          <a:p>
            <a:pPr marL="0" indent="0">
              <a:buNone/>
            </a:pPr>
            <a:r>
              <a:rPr lang="en-US" sz="1050" dirty="0">
                <a:solidFill>
                  <a:srgbClr val="2B2218"/>
                </a:solidFill>
                <a:latin typeface="Inter" pitchFamily="34" charset="0"/>
                <a:ea typeface="Inter" pitchFamily="34" charset="-122"/>
                <a:cs typeface="Inter" pitchFamily="34" charset="-120"/>
              </a:rPr>
              <a:t>12,9 % de clientes concentra 99,6 % del CLTV. Priorizar retención de Champions sobre reactivación masiva.</a:t>
            </a:r>
            <a:endParaRPr lang="en-US" sz="1050" dirty="0"/>
          </a:p>
        </p:txBody>
      </p:sp>
      <p:sp>
        <p:nvSpPr>
          <p:cNvPr id="14" name="Shape 12"/>
          <p:cNvSpPr/>
          <p:nvPr/>
        </p:nvSpPr>
        <p:spPr>
          <a:xfrm>
            <a:off x="8115300" y="2011680"/>
            <a:ext cx="3611880" cy="2240280"/>
          </a:xfrm>
          <a:prstGeom prst="rect">
            <a:avLst/>
          </a:prstGeom>
          <a:solidFill>
            <a:srgbClr val="F8F5EF"/>
          </a:solidFill>
          <a:ln/>
        </p:spPr>
        <p:txBody>
          <a:bodyPr/>
          <a:lstStyle/>
          <a:p>
            <a:endParaRPr lang="es-ES"/>
          </a:p>
        </p:txBody>
      </p:sp>
      <p:sp>
        <p:nvSpPr>
          <p:cNvPr id="15" name="Text 13"/>
          <p:cNvSpPr/>
          <p:nvPr/>
        </p:nvSpPr>
        <p:spPr>
          <a:xfrm>
            <a:off x="8389620" y="2194560"/>
            <a:ext cx="914400" cy="457200"/>
          </a:xfrm>
          <a:prstGeom prst="rect">
            <a:avLst/>
          </a:prstGeom>
          <a:noFill/>
          <a:ln/>
        </p:spPr>
        <p:txBody>
          <a:bodyPr wrap="square" lIns="0" tIns="0" rIns="0" bIns="0" rtlCol="0" anchor="ctr"/>
          <a:lstStyle/>
          <a:p>
            <a:pPr marL="0" indent="0">
              <a:buNone/>
            </a:pPr>
            <a:r>
              <a:rPr lang="en-US" sz="3800" b="1" i="1" dirty="0">
                <a:solidFill>
                  <a:srgbClr val="8A7253"/>
                </a:solidFill>
                <a:latin typeface="Cormorant Garamond" pitchFamily="34" charset="0"/>
                <a:ea typeface="Cormorant Garamond" pitchFamily="34" charset="-122"/>
                <a:cs typeface="Cormorant Garamond" pitchFamily="34" charset="-120"/>
              </a:rPr>
              <a:t>03</a:t>
            </a:r>
            <a:endParaRPr lang="en-US" sz="3800" dirty="0"/>
          </a:p>
        </p:txBody>
      </p:sp>
      <p:sp>
        <p:nvSpPr>
          <p:cNvPr id="16" name="Shape 14"/>
          <p:cNvSpPr/>
          <p:nvPr/>
        </p:nvSpPr>
        <p:spPr>
          <a:xfrm>
            <a:off x="8389620" y="2788920"/>
            <a:ext cx="548640" cy="0"/>
          </a:xfrm>
          <a:prstGeom prst="line">
            <a:avLst/>
          </a:prstGeom>
          <a:noFill/>
          <a:ln w="12700">
            <a:solidFill>
              <a:srgbClr val="5C4A2F"/>
            </a:solidFill>
            <a:prstDash val="solid"/>
          </a:ln>
        </p:spPr>
        <p:txBody>
          <a:bodyPr/>
          <a:lstStyle/>
          <a:p>
            <a:endParaRPr lang="es-ES"/>
          </a:p>
        </p:txBody>
      </p:sp>
      <p:sp>
        <p:nvSpPr>
          <p:cNvPr id="17" name="Text 15"/>
          <p:cNvSpPr/>
          <p:nvPr/>
        </p:nvSpPr>
        <p:spPr>
          <a:xfrm>
            <a:off x="8389620" y="2880360"/>
            <a:ext cx="3154680" cy="594360"/>
          </a:xfrm>
          <a:prstGeom prst="rect">
            <a:avLst/>
          </a:prstGeom>
          <a:noFill/>
          <a:ln/>
        </p:spPr>
        <p:txBody>
          <a:bodyPr wrap="square" lIns="0" tIns="0" rIns="0" bIns="0" rtlCol="0" anchor="ctr"/>
          <a:lstStyle/>
          <a:p>
            <a:pPr marL="0" indent="0">
              <a:buNone/>
            </a:pPr>
            <a:r>
              <a:rPr lang="en-US" sz="1800" i="1" dirty="0">
                <a:solidFill>
                  <a:srgbClr val="5C4A2F"/>
                </a:solidFill>
                <a:latin typeface="Cormorant Garamond" pitchFamily="34" charset="0"/>
                <a:ea typeface="Cormorant Garamond" pitchFamily="34" charset="-122"/>
                <a:cs typeface="Cormorant Garamond" pitchFamily="34" charset="-120"/>
              </a:rPr>
              <a:t>Arquitectura preparada para escalar</a:t>
            </a:r>
            <a:endParaRPr lang="en-US" sz="1800" dirty="0"/>
          </a:p>
        </p:txBody>
      </p:sp>
      <p:sp>
        <p:nvSpPr>
          <p:cNvPr id="18" name="Text 16"/>
          <p:cNvSpPr/>
          <p:nvPr/>
        </p:nvSpPr>
        <p:spPr>
          <a:xfrm>
            <a:off x="8389620" y="3566160"/>
            <a:ext cx="3154680" cy="640080"/>
          </a:xfrm>
          <a:prstGeom prst="rect">
            <a:avLst/>
          </a:prstGeom>
          <a:noFill/>
          <a:ln/>
        </p:spPr>
        <p:txBody>
          <a:bodyPr wrap="square" lIns="0" tIns="0" rIns="0" bIns="0" rtlCol="0" anchor="ctr"/>
          <a:lstStyle/>
          <a:p>
            <a:pPr marL="0" indent="0">
              <a:buNone/>
            </a:pPr>
            <a:r>
              <a:rPr lang="en-US" sz="1050" dirty="0">
                <a:solidFill>
                  <a:srgbClr val="2B2218"/>
                </a:solidFill>
                <a:latin typeface="Inter" pitchFamily="34" charset="0"/>
                <a:ea typeface="Inter" pitchFamily="34" charset="-122"/>
                <a:cs typeface="Inter" pitchFamily="34" charset="-120"/>
              </a:rPr>
              <a:t>Capas medallion, marts precomputados, mejoras: market basket, lambda architecture y pseudonimización RGPD.</a:t>
            </a:r>
            <a:endParaRPr lang="en-US" sz="1050" dirty="0"/>
          </a:p>
        </p:txBody>
      </p:sp>
      <p:sp>
        <p:nvSpPr>
          <p:cNvPr id="19" name="Text 17"/>
          <p:cNvSpPr/>
          <p:nvPr/>
        </p:nvSpPr>
        <p:spPr>
          <a:xfrm>
            <a:off x="548640" y="4892040"/>
            <a:ext cx="11064240" cy="457200"/>
          </a:xfrm>
          <a:prstGeom prst="rect">
            <a:avLst/>
          </a:prstGeom>
          <a:noFill/>
          <a:ln/>
        </p:spPr>
        <p:txBody>
          <a:bodyPr wrap="square" lIns="0" tIns="0" rIns="0" bIns="0" rtlCol="0" anchor="ctr"/>
          <a:lstStyle/>
          <a:p>
            <a:pPr marL="0" indent="0" algn="ctr">
              <a:buNone/>
            </a:pPr>
            <a:r>
              <a:rPr lang="en-US" sz="1900" i="1" dirty="0">
                <a:solidFill>
                  <a:srgbClr val="EFE9DF"/>
                </a:solidFill>
                <a:latin typeface="Cormorant Garamond" pitchFamily="34" charset="0"/>
                <a:ea typeface="Cormorant Garamond" pitchFamily="34" charset="-122"/>
                <a:cs typeface="Cormorant Garamond" pitchFamily="34" charset="-120"/>
              </a:rPr>
              <a:t>Este proyecto no solo responde al enunciado:</a:t>
            </a:r>
            <a:endParaRPr lang="en-US" sz="1900" dirty="0"/>
          </a:p>
        </p:txBody>
      </p:sp>
      <p:sp>
        <p:nvSpPr>
          <p:cNvPr id="20" name="Text 18"/>
          <p:cNvSpPr/>
          <p:nvPr/>
        </p:nvSpPr>
        <p:spPr>
          <a:xfrm>
            <a:off x="548640" y="5303520"/>
            <a:ext cx="11064240" cy="640080"/>
          </a:xfrm>
          <a:prstGeom prst="rect">
            <a:avLst/>
          </a:prstGeom>
          <a:noFill/>
          <a:ln/>
        </p:spPr>
        <p:txBody>
          <a:bodyPr wrap="square" lIns="0" tIns="0" rIns="0" bIns="0" rtlCol="0" anchor="ctr"/>
          <a:lstStyle/>
          <a:p>
            <a:pPr marL="0" indent="0" algn="ctr">
              <a:buNone/>
            </a:pPr>
            <a:r>
              <a:rPr lang="en-US" sz="2200" i="1" dirty="0">
                <a:solidFill>
                  <a:srgbClr val="FFFFFF"/>
                </a:solidFill>
                <a:latin typeface="Cormorant Garamond" pitchFamily="34" charset="0"/>
                <a:ea typeface="Cormorant Garamond" pitchFamily="34" charset="-122"/>
                <a:cs typeface="Cormorant Garamond" pitchFamily="34" charset="-120"/>
              </a:rPr>
              <a:t>demuestra cómo convertir datos transaccionales en decisiones de negocio con impacto económico real.</a:t>
            </a:r>
            <a:endParaRPr lang="en-US" sz="2200" dirty="0"/>
          </a:p>
        </p:txBody>
      </p:sp>
      <p:sp>
        <p:nvSpPr>
          <p:cNvPr id="21" name="Text 19"/>
          <p:cNvSpPr/>
          <p:nvPr/>
        </p:nvSpPr>
        <p:spPr>
          <a:xfrm>
            <a:off x="548640" y="6035040"/>
            <a:ext cx="11064240" cy="411480"/>
          </a:xfrm>
          <a:prstGeom prst="rect">
            <a:avLst/>
          </a:prstGeom>
          <a:noFill/>
          <a:ln/>
        </p:spPr>
        <p:txBody>
          <a:bodyPr wrap="square" lIns="0" tIns="0" rIns="0" bIns="0" rtlCol="0" anchor="ctr"/>
          <a:lstStyle/>
          <a:p>
            <a:pPr marL="0" indent="0" algn="ctr">
              <a:buNone/>
            </a:pPr>
            <a:r>
              <a:rPr lang="en-US" sz="2000" b="1" i="1" dirty="0">
                <a:solidFill>
                  <a:srgbClr val="EFE9DF"/>
                </a:solidFill>
                <a:latin typeface="Cormorant Garamond" pitchFamily="34" charset="0"/>
                <a:ea typeface="Cormorant Garamond" pitchFamily="34" charset="-122"/>
                <a:cs typeface="Cormorant Garamond" pitchFamily="34" charset="-120"/>
              </a:rPr>
              <a:t>Gracias.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1444</Words>
  <Application>Microsoft Office PowerPoint</Application>
  <PresentationFormat>Panorámica</PresentationFormat>
  <Paragraphs>91</Paragraphs>
  <Slides>5</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Cormorant Garamond</vt:lpstr>
      <vt:lpstr>Inter</vt:lpstr>
      <vt:lpstr>Office Theme</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Saleshealth · CLTV</dc:title>
  <dc:subject>PptxGenJS Presentation</dc:subject>
  <dc:creator>Judith M.ª Salas García</dc:creator>
  <cp:lastModifiedBy>Judith María Salas García</cp:lastModifiedBy>
  <cp:revision>2</cp:revision>
  <dcterms:created xsi:type="dcterms:W3CDTF">2026-05-11T17:05:21Z</dcterms:created>
  <dcterms:modified xsi:type="dcterms:W3CDTF">2026-05-11T19:09:58Z</dcterms:modified>
</cp:coreProperties>
</file>